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2" autoAdjust="0"/>
    <p:restoredTop sz="94610"/>
  </p:normalViewPr>
  <p:slideViewPr>
    <p:cSldViewPr snapToGrid="0" snapToObjects="1">
      <p:cViewPr varScale="1">
        <p:scale>
          <a:sx n="47" d="100"/>
          <a:sy n="47" d="100"/>
        </p:scale>
        <p:origin x="1046"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89277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everyone. My project is a Mini Search Engine that indexes and searches files efficiently using two data structures — the AVL Tree and the B-Tree. I'll walk through the problem, the design, and how it works.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simple words — checking files one by one gets slower as the collection grows. My project instead builds an index using AVL and B-Trees, so lookups stay fast even as the number of files increases. That's the core idea of the abstract.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search engine's real work happens before you even type a query — that's indexing. Instead of scanning every file for every search, we build an index once using AVL and B-Trees, and then every search just walks that structure: files go in, get indexed, and a query quickly finds its matches.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simple, standard requirements — any laptop or desktop capable of running Java and an IDE is enough. Nothing specialised is needed to build or run this project.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looked at how file searching is traditionally done — plain linear search, then binary search trees. A BST is good, but it can become unbalanced and slow down to linear time. That's exactly why this project uses AVL and B-Trees instead, since both guarantee balance.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full workflow: files come in, we process and index them, and that index is built using AVL and B-Trees. When a user searches, we don't scan the files again — we search the tree directly, which is what makes it fast, and then return the matches.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AVL Tree keeps itself balanced automatically — after every insertion, if one side gets taller than the other by more than one level, it rotates nodes to fix that. That's why search always stays close to log n, no matter how the files were inserted.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Unlike AVL where each node has one value, a B-Tree node can hold several keys at once. That means fewer levels overall, which is exactly why B-Trees are used for large indexes — you reach the right file in very few steps.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concludes my presentation on the Mini Search Engine. To summarise — by indexing files with AVL and B-Trees instead of scanning them one by one, we go from slow linear search to fast, balanced, logarithmic search. I'm happy to take any questions.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2.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14400" y="914400"/>
            <a:ext cx="82296" cy="82296"/>
          </a:xfrm>
          <a:prstGeom prst="ellipse">
            <a:avLst/>
          </a:prstGeom>
          <a:solidFill>
            <a:srgbClr val="31407A"/>
          </a:solidFill>
          <a:ln/>
        </p:spPr>
      </p:sp>
      <p:sp>
        <p:nvSpPr>
          <p:cNvPr id="3" name="Shape 1"/>
          <p:cNvSpPr/>
          <p:nvPr/>
        </p:nvSpPr>
        <p:spPr>
          <a:xfrm>
            <a:off x="1463040" y="1463040"/>
            <a:ext cx="82296" cy="82296"/>
          </a:xfrm>
          <a:prstGeom prst="ellipse">
            <a:avLst/>
          </a:prstGeom>
          <a:solidFill>
            <a:srgbClr val="31407A"/>
          </a:solidFill>
          <a:ln/>
        </p:spPr>
      </p:sp>
      <p:sp>
        <p:nvSpPr>
          <p:cNvPr id="4" name="Shape 2"/>
          <p:cNvSpPr/>
          <p:nvPr/>
        </p:nvSpPr>
        <p:spPr>
          <a:xfrm>
            <a:off x="1005840" y="2194560"/>
            <a:ext cx="82296" cy="82296"/>
          </a:xfrm>
          <a:prstGeom prst="ellipse">
            <a:avLst/>
          </a:prstGeom>
          <a:solidFill>
            <a:srgbClr val="31407A"/>
          </a:solidFill>
          <a:ln/>
        </p:spPr>
      </p:sp>
      <p:sp>
        <p:nvSpPr>
          <p:cNvPr id="5" name="Shape 3"/>
          <p:cNvSpPr/>
          <p:nvPr/>
        </p:nvSpPr>
        <p:spPr>
          <a:xfrm>
            <a:off x="1737360" y="640080"/>
            <a:ext cx="82296" cy="82296"/>
          </a:xfrm>
          <a:prstGeom prst="ellipse">
            <a:avLst/>
          </a:prstGeom>
          <a:solidFill>
            <a:srgbClr val="31407A"/>
          </a:solidFill>
          <a:ln/>
        </p:spPr>
      </p:sp>
      <p:sp>
        <p:nvSpPr>
          <p:cNvPr id="6" name="Shape 4"/>
          <p:cNvSpPr/>
          <p:nvPr/>
        </p:nvSpPr>
        <p:spPr>
          <a:xfrm>
            <a:off x="2194560" y="1828800"/>
            <a:ext cx="82296" cy="82296"/>
          </a:xfrm>
          <a:prstGeom prst="ellipse">
            <a:avLst/>
          </a:prstGeom>
          <a:solidFill>
            <a:srgbClr val="31407A"/>
          </a:solidFill>
          <a:ln/>
        </p:spPr>
      </p:sp>
      <p:sp>
        <p:nvSpPr>
          <p:cNvPr id="7" name="Shape 5"/>
          <p:cNvSpPr/>
          <p:nvPr/>
        </p:nvSpPr>
        <p:spPr>
          <a:xfrm>
            <a:off x="10424160" y="1005840"/>
            <a:ext cx="82296" cy="82296"/>
          </a:xfrm>
          <a:prstGeom prst="ellipse">
            <a:avLst/>
          </a:prstGeom>
          <a:solidFill>
            <a:srgbClr val="31407A"/>
          </a:solidFill>
          <a:ln/>
        </p:spPr>
      </p:sp>
      <p:sp>
        <p:nvSpPr>
          <p:cNvPr id="8" name="Shape 6"/>
          <p:cNvSpPr/>
          <p:nvPr/>
        </p:nvSpPr>
        <p:spPr>
          <a:xfrm>
            <a:off x="10972800" y="1737360"/>
            <a:ext cx="82296" cy="82296"/>
          </a:xfrm>
          <a:prstGeom prst="ellipse">
            <a:avLst/>
          </a:prstGeom>
          <a:solidFill>
            <a:srgbClr val="31407A"/>
          </a:solidFill>
          <a:ln/>
        </p:spPr>
      </p:sp>
      <p:sp>
        <p:nvSpPr>
          <p:cNvPr id="9" name="Shape 7"/>
          <p:cNvSpPr/>
          <p:nvPr/>
        </p:nvSpPr>
        <p:spPr>
          <a:xfrm>
            <a:off x="10058400" y="2194560"/>
            <a:ext cx="82296" cy="82296"/>
          </a:xfrm>
          <a:prstGeom prst="ellipse">
            <a:avLst/>
          </a:prstGeom>
          <a:solidFill>
            <a:srgbClr val="31407A"/>
          </a:solidFill>
          <a:ln/>
        </p:spPr>
      </p:sp>
      <p:sp>
        <p:nvSpPr>
          <p:cNvPr id="10" name="Shape 8"/>
          <p:cNvSpPr/>
          <p:nvPr/>
        </p:nvSpPr>
        <p:spPr>
          <a:xfrm>
            <a:off x="10698480" y="548640"/>
            <a:ext cx="82296" cy="82296"/>
          </a:xfrm>
          <a:prstGeom prst="ellipse">
            <a:avLst/>
          </a:prstGeom>
          <a:solidFill>
            <a:srgbClr val="31407A"/>
          </a:solidFill>
          <a:ln/>
        </p:spPr>
      </p:sp>
      <p:sp>
        <p:nvSpPr>
          <p:cNvPr id="11" name="Shape 9"/>
          <p:cNvSpPr/>
          <p:nvPr/>
        </p:nvSpPr>
        <p:spPr>
          <a:xfrm>
            <a:off x="11247120" y="2743200"/>
            <a:ext cx="82296" cy="82296"/>
          </a:xfrm>
          <a:prstGeom prst="ellipse">
            <a:avLst/>
          </a:prstGeom>
          <a:solidFill>
            <a:srgbClr val="31407A"/>
          </a:solidFill>
          <a:ln/>
        </p:spPr>
      </p:sp>
      <p:sp>
        <p:nvSpPr>
          <p:cNvPr id="12" name="Shape 10"/>
          <p:cNvSpPr/>
          <p:nvPr/>
        </p:nvSpPr>
        <p:spPr>
          <a:xfrm>
            <a:off x="5591556" y="960120"/>
            <a:ext cx="1005840" cy="1005840"/>
          </a:xfrm>
          <a:prstGeom prst="ellipse">
            <a:avLst/>
          </a:prstGeom>
          <a:solidFill>
            <a:srgbClr val="2A356B"/>
          </a:solidFill>
          <a:ln/>
        </p:spPr>
      </p:sp>
      <p:pic>
        <p:nvPicPr>
          <p:cNvPr id="13" name="Image 0" descr="/home/claude/proj/icons/search_white.png"/>
          <p:cNvPicPr>
            <a:picLocks noChangeAspect="1"/>
          </p:cNvPicPr>
          <p:nvPr/>
        </p:nvPicPr>
        <p:blipFill>
          <a:blip r:embed="rId3"/>
          <a:stretch>
            <a:fillRect/>
          </a:stretch>
        </p:blipFill>
        <p:spPr>
          <a:xfrm>
            <a:off x="5843016" y="1211580"/>
            <a:ext cx="502920" cy="502920"/>
          </a:xfrm>
          <a:prstGeom prst="rect">
            <a:avLst/>
          </a:prstGeom>
        </p:spPr>
      </p:pic>
      <p:sp>
        <p:nvSpPr>
          <p:cNvPr id="14" name="Text 11"/>
          <p:cNvSpPr/>
          <p:nvPr/>
        </p:nvSpPr>
        <p:spPr>
          <a:xfrm>
            <a:off x="457200" y="2331720"/>
            <a:ext cx="11274552" cy="320040"/>
          </a:xfrm>
          <a:prstGeom prst="rect">
            <a:avLst/>
          </a:prstGeom>
          <a:noFill/>
          <a:ln/>
        </p:spPr>
        <p:txBody>
          <a:bodyPr wrap="square" rtlCol="0" anchor="ctr"/>
          <a:lstStyle/>
          <a:p>
            <a:pPr marL="0" indent="0" algn="ctr">
              <a:buNone/>
            </a:pPr>
            <a:r>
              <a:rPr lang="en-US" sz="1300" b="1" kern="0" spc="200" dirty="0">
                <a:solidFill>
                  <a:srgbClr val="CADCFC"/>
                </a:solidFill>
                <a:latin typeface="Calibri" pitchFamily="34" charset="0"/>
                <a:ea typeface="Calibri" pitchFamily="34" charset="-122"/>
                <a:cs typeface="Calibri" pitchFamily="34" charset="-120"/>
              </a:rPr>
              <a:t>B.TECH  DATA STRUCTURES AND ALGORITHMS  •  PROJECT PRESENTATION</a:t>
            </a:r>
            <a:endParaRPr lang="en-US" sz="1300" dirty="0"/>
          </a:p>
        </p:txBody>
      </p:sp>
      <p:sp>
        <p:nvSpPr>
          <p:cNvPr id="15" name="Text 12"/>
          <p:cNvSpPr/>
          <p:nvPr/>
        </p:nvSpPr>
        <p:spPr>
          <a:xfrm>
            <a:off x="457200" y="2697480"/>
            <a:ext cx="11274552" cy="914400"/>
          </a:xfrm>
          <a:prstGeom prst="rect">
            <a:avLst/>
          </a:prstGeom>
          <a:noFill/>
          <a:ln/>
        </p:spPr>
        <p:txBody>
          <a:bodyPr wrap="square" rtlCol="0" anchor="ctr"/>
          <a:lstStyle/>
          <a:p>
            <a:pPr marL="0" indent="0" algn="ctr">
              <a:buNone/>
            </a:pPr>
            <a:r>
              <a:rPr lang="en-US" sz="4600" b="1" dirty="0">
                <a:solidFill>
                  <a:srgbClr val="FFFFFF"/>
                </a:solidFill>
                <a:latin typeface="Cambria" pitchFamily="34" charset="0"/>
                <a:ea typeface="Cambria" pitchFamily="34" charset="-122"/>
                <a:cs typeface="Cambria" pitchFamily="34" charset="-120"/>
              </a:rPr>
              <a:t>MINI SEARCH ENGINE</a:t>
            </a:r>
            <a:endParaRPr lang="en-US" sz="4600" dirty="0"/>
          </a:p>
        </p:txBody>
      </p:sp>
      <p:sp>
        <p:nvSpPr>
          <p:cNvPr id="16" name="Shape 13"/>
          <p:cNvSpPr/>
          <p:nvPr/>
        </p:nvSpPr>
        <p:spPr>
          <a:xfrm>
            <a:off x="5271516" y="3639312"/>
            <a:ext cx="1645920" cy="41148"/>
          </a:xfrm>
          <a:prstGeom prst="rect">
            <a:avLst/>
          </a:prstGeom>
          <a:solidFill>
            <a:srgbClr val="FFC145"/>
          </a:solidFill>
          <a:ln/>
        </p:spPr>
      </p:sp>
      <p:sp>
        <p:nvSpPr>
          <p:cNvPr id="17" name="Text 14"/>
          <p:cNvSpPr/>
          <p:nvPr/>
        </p:nvSpPr>
        <p:spPr>
          <a:xfrm>
            <a:off x="457200" y="3794760"/>
            <a:ext cx="11274552" cy="457200"/>
          </a:xfrm>
          <a:prstGeom prst="rect">
            <a:avLst/>
          </a:prstGeom>
          <a:noFill/>
          <a:ln/>
        </p:spPr>
        <p:txBody>
          <a:bodyPr wrap="square" rtlCol="0" anchor="ctr"/>
          <a:lstStyle/>
          <a:p>
            <a:pPr marL="0" indent="0" algn="ctr">
              <a:buNone/>
            </a:pPr>
            <a:r>
              <a:rPr lang="en-US" sz="1800" dirty="0">
                <a:solidFill>
                  <a:srgbClr val="CADCFC"/>
                </a:solidFill>
                <a:latin typeface="Calibri" pitchFamily="34" charset="0"/>
                <a:ea typeface="Calibri" pitchFamily="34" charset="-122"/>
                <a:cs typeface="Calibri" pitchFamily="34" charset="-120"/>
              </a:rPr>
              <a:t>File Indexing and Search using AVL Tree and B-Tree</a:t>
            </a:r>
            <a:endParaRPr lang="en-US" sz="1800" dirty="0"/>
          </a:p>
        </p:txBody>
      </p:sp>
      <p:sp>
        <p:nvSpPr>
          <p:cNvPr id="18" name="Text 15"/>
          <p:cNvSpPr/>
          <p:nvPr/>
        </p:nvSpPr>
        <p:spPr>
          <a:xfrm>
            <a:off x="8808098" y="3680460"/>
            <a:ext cx="2923654" cy="2674620"/>
          </a:xfrm>
          <a:prstGeom prst="rect">
            <a:avLst/>
          </a:prstGeom>
          <a:noFill/>
          <a:ln/>
        </p:spPr>
        <p:txBody>
          <a:bodyPr wrap="square" rtlCol="0" anchor="ctr"/>
          <a:lstStyle/>
          <a:p>
            <a:pPr marL="0" indent="0" algn="ctr">
              <a:buNone/>
            </a:pPr>
            <a:endParaRPr lang="en-US" sz="1600" dirty="0">
              <a:solidFill>
                <a:srgbClr val="8C97C4"/>
              </a:solidFill>
              <a:latin typeface="Calibri" pitchFamily="34" charset="0"/>
              <a:ea typeface="Calibri" pitchFamily="34" charset="-122"/>
              <a:cs typeface="Calibri" pitchFamily="34" charset="-120"/>
            </a:endParaRPr>
          </a:p>
          <a:p>
            <a:pPr marL="0" indent="0" algn="ctr">
              <a:buNone/>
            </a:pPr>
            <a:endParaRPr lang="en-US" sz="1600" dirty="0">
              <a:solidFill>
                <a:srgbClr val="8C97C4"/>
              </a:solidFill>
              <a:latin typeface="Calibri" pitchFamily="34" charset="0"/>
              <a:ea typeface="Calibri" pitchFamily="34" charset="-122"/>
              <a:cs typeface="Calibri" pitchFamily="34" charset="-120"/>
            </a:endParaRPr>
          </a:p>
          <a:p>
            <a:pPr marL="0" indent="0" algn="r">
              <a:buNone/>
            </a:pPr>
            <a:r>
              <a:rPr lang="en-US" sz="1600" dirty="0">
                <a:solidFill>
                  <a:srgbClr val="8C97C4"/>
                </a:solidFill>
                <a:latin typeface="Calibri" pitchFamily="34" charset="0"/>
                <a:ea typeface="Calibri" pitchFamily="34" charset="-122"/>
                <a:cs typeface="Calibri" pitchFamily="34" charset="-120"/>
              </a:rPr>
              <a:t>  </a:t>
            </a:r>
          </a:p>
          <a:p>
            <a:pPr marL="0" indent="0" algn="r">
              <a:buNone/>
            </a:pPr>
            <a:endParaRPr lang="en-US" sz="1600" dirty="0">
              <a:solidFill>
                <a:srgbClr val="8C97C4"/>
              </a:solidFill>
              <a:latin typeface="Calibri" pitchFamily="34" charset="0"/>
              <a:ea typeface="Calibri" pitchFamily="34" charset="-122"/>
              <a:cs typeface="Calibri" pitchFamily="34" charset="-120"/>
            </a:endParaRPr>
          </a:p>
          <a:p>
            <a:pPr marL="0" indent="0" algn="r">
              <a:buNone/>
            </a:pPr>
            <a:endParaRPr lang="en-US" sz="1600" dirty="0">
              <a:solidFill>
                <a:srgbClr val="8C97C4"/>
              </a:solidFill>
              <a:latin typeface="Calibri" pitchFamily="34" charset="0"/>
              <a:ea typeface="Calibri" pitchFamily="34" charset="-122"/>
              <a:cs typeface="Calibri" pitchFamily="34" charset="-120"/>
            </a:endParaRPr>
          </a:p>
          <a:p>
            <a:pPr marL="0" indent="0" algn="r">
              <a:buNone/>
            </a:pPr>
            <a:endParaRPr lang="en-US" sz="1600" dirty="0">
              <a:solidFill>
                <a:srgbClr val="8C97C4"/>
              </a:solidFill>
              <a:latin typeface="Calibri" pitchFamily="34" charset="0"/>
              <a:ea typeface="Calibri" pitchFamily="34" charset="-122"/>
              <a:cs typeface="Calibri" pitchFamily="34" charset="-120"/>
            </a:endParaRPr>
          </a:p>
          <a:p>
            <a:pPr marL="0" indent="0" algn="r">
              <a:buNone/>
            </a:pPr>
            <a:endParaRPr lang="en-US" sz="1600" dirty="0">
              <a:solidFill>
                <a:srgbClr val="8C97C4"/>
              </a:solidFill>
              <a:latin typeface="Calibri" pitchFamily="34" charset="0"/>
              <a:ea typeface="Calibri" pitchFamily="34" charset="-122"/>
              <a:cs typeface="Calibri" pitchFamily="34" charset="-120"/>
            </a:endParaRPr>
          </a:p>
          <a:p>
            <a:pPr marL="0" indent="0" algn="r">
              <a:buNone/>
            </a:pPr>
            <a:endParaRPr lang="en-US" sz="1600" dirty="0">
              <a:solidFill>
                <a:srgbClr val="8C97C4"/>
              </a:solidFill>
              <a:latin typeface="Calibri" pitchFamily="34" charset="0"/>
              <a:ea typeface="Calibri" pitchFamily="34" charset="-122"/>
              <a:cs typeface="Calibri" pitchFamily="34" charset="-120"/>
            </a:endParaRPr>
          </a:p>
          <a:p>
            <a:pPr marL="0" indent="0" algn="r">
              <a:buNone/>
            </a:pPr>
            <a:endParaRPr lang="en-US" sz="1600" dirty="0">
              <a:solidFill>
                <a:srgbClr val="8C97C4"/>
              </a:solidFill>
              <a:latin typeface="Calibri" pitchFamily="34" charset="0"/>
              <a:ea typeface="Calibri" pitchFamily="34" charset="-122"/>
              <a:cs typeface="Calibri" pitchFamily="34" charset="-120"/>
            </a:endParaRPr>
          </a:p>
          <a:p>
            <a:pPr marL="0" indent="0" algn="r">
              <a:buNone/>
            </a:pPr>
            <a:endParaRPr lang="en-US" sz="1600" dirty="0">
              <a:solidFill>
                <a:srgbClr val="8C97C4"/>
              </a:solidFill>
              <a:latin typeface="Calibri" pitchFamily="34" charset="0"/>
              <a:ea typeface="Calibri" pitchFamily="34" charset="-122"/>
              <a:cs typeface="Calibri" pitchFamily="34" charset="-120"/>
            </a:endParaRPr>
          </a:p>
          <a:p>
            <a:pPr marL="0" indent="0" algn="r">
              <a:buNone/>
            </a:pPr>
            <a:r>
              <a:rPr lang="en-US" sz="1600" dirty="0">
                <a:solidFill>
                  <a:srgbClr val="8C97C4"/>
                </a:solidFill>
                <a:latin typeface="Calibri" pitchFamily="34" charset="0"/>
                <a:ea typeface="Calibri" pitchFamily="34" charset="-122"/>
                <a:cs typeface="Calibri" pitchFamily="34" charset="-120"/>
              </a:rPr>
              <a:t>Ch Karthikeya 2520080022</a:t>
            </a:r>
          </a:p>
          <a:p>
            <a:pPr marL="0" indent="0" algn="r">
              <a:buNone/>
            </a:pPr>
            <a:r>
              <a:rPr lang="en-US" sz="1600" dirty="0">
                <a:solidFill>
                  <a:srgbClr val="8C97C4"/>
                </a:solidFill>
                <a:latin typeface="Calibri" pitchFamily="34" charset="0"/>
                <a:ea typeface="Calibri" pitchFamily="34" charset="-122"/>
                <a:cs typeface="Calibri" pitchFamily="34" charset="-120"/>
              </a:rPr>
              <a:t> S Abhinav  2520080043</a:t>
            </a:r>
          </a:p>
          <a:p>
            <a:pPr marL="0" indent="0" algn="ctr">
              <a:buNone/>
            </a:pPr>
            <a:endParaRPr lang="en-US" sz="1600" dirty="0">
              <a:solidFill>
                <a:srgbClr val="8C97C4"/>
              </a:solidFill>
              <a:latin typeface="Calibri" pitchFamily="34" charset="0"/>
              <a:ea typeface="Calibri" pitchFamily="34" charset="-122"/>
              <a:cs typeface="Calibri" pitchFamily="34" charset="-120"/>
            </a:endParaRPr>
          </a:p>
          <a:p>
            <a:pPr marL="0" indent="0" algn="ctr">
              <a:buNone/>
            </a:pPr>
            <a:endParaRPr lang="en-US" sz="1600" dirty="0">
              <a:solidFill>
                <a:srgbClr val="8C97C4"/>
              </a:solidFill>
              <a:latin typeface="Calibri" pitchFamily="34" charset="0"/>
              <a:ea typeface="Calibri" pitchFamily="34" charset="-122"/>
              <a:cs typeface="Calibri" pitchFamily="34" charset="-12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CADCFC"/>
          </a:solidFill>
          <a:ln/>
        </p:spPr>
      </p:sp>
      <p:pic>
        <p:nvPicPr>
          <p:cNvPr id="3" name="Image 0" descr="/home/claude/proj/icons/search.png"/>
          <p:cNvPicPr>
            <a:picLocks noChangeAspect="1"/>
          </p:cNvPicPr>
          <p:nvPr/>
        </p:nvPicPr>
        <p:blipFill>
          <a:blip r:embed="rId3"/>
          <a:stretch>
            <a:fillRect/>
          </a:stretch>
        </p:blipFill>
        <p:spPr>
          <a:xfrm>
            <a:off x="630479" y="584759"/>
            <a:ext cx="311810" cy="311810"/>
          </a:xfrm>
          <a:prstGeom prst="rect">
            <a:avLst/>
          </a:prstGeom>
        </p:spPr>
      </p:pic>
      <p:sp>
        <p:nvSpPr>
          <p:cNvPr id="4" name="Text 1"/>
          <p:cNvSpPr/>
          <p:nvPr/>
        </p:nvSpPr>
        <p:spPr>
          <a:xfrm>
            <a:off x="1234440" y="402336"/>
            <a:ext cx="7315200" cy="274320"/>
          </a:xfrm>
          <a:prstGeom prst="rect">
            <a:avLst/>
          </a:prstGeom>
          <a:noFill/>
          <a:ln/>
        </p:spPr>
        <p:txBody>
          <a:bodyPr wrap="square" rtlCol="0" anchor="ctr"/>
          <a:lstStyle/>
          <a:p>
            <a:pPr marL="0" indent="0">
              <a:buNone/>
            </a:pPr>
            <a:r>
              <a:rPr lang="en-US" sz="1200" b="1" kern="0" spc="200" dirty="0">
                <a:solidFill>
                  <a:srgbClr val="5A6B87"/>
                </a:solidFill>
                <a:latin typeface="Calibri" pitchFamily="34" charset="0"/>
                <a:ea typeface="Calibri" pitchFamily="34" charset="-122"/>
                <a:cs typeface="Calibri" pitchFamily="34" charset="-120"/>
              </a:rPr>
              <a:t>PROJECT SUMMARY</a:t>
            </a:r>
            <a:endParaRPr lang="en-US" sz="1200" dirty="0"/>
          </a:p>
        </p:txBody>
      </p:sp>
      <p:sp>
        <p:nvSpPr>
          <p:cNvPr id="5" name="Text 2"/>
          <p:cNvSpPr/>
          <p:nvPr/>
        </p:nvSpPr>
        <p:spPr>
          <a:xfrm>
            <a:off x="1234440" y="640080"/>
            <a:ext cx="9601200" cy="50292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Abstract</a:t>
            </a:r>
            <a:endParaRPr lang="en-US" sz="3000" dirty="0"/>
          </a:p>
        </p:txBody>
      </p:sp>
      <p:sp>
        <p:nvSpPr>
          <p:cNvPr id="6" name="Shape 3"/>
          <p:cNvSpPr/>
          <p:nvPr/>
        </p:nvSpPr>
        <p:spPr>
          <a:xfrm>
            <a:off x="502920" y="1298448"/>
            <a:ext cx="11183112" cy="0"/>
          </a:xfrm>
          <a:prstGeom prst="line">
            <a:avLst/>
          </a:prstGeom>
          <a:noFill/>
          <a:ln w="15875">
            <a:solidFill>
              <a:srgbClr val="E3E8F2"/>
            </a:solidFill>
            <a:prstDash val="solid"/>
          </a:ln>
        </p:spPr>
      </p:sp>
      <p:sp>
        <p:nvSpPr>
          <p:cNvPr id="7" name="Text 4"/>
          <p:cNvSpPr/>
          <p:nvPr/>
        </p:nvSpPr>
        <p:spPr>
          <a:xfrm>
            <a:off x="502920" y="6528816"/>
            <a:ext cx="7315200" cy="274320"/>
          </a:xfrm>
          <a:prstGeom prst="rect">
            <a:avLst/>
          </a:prstGeom>
          <a:noFill/>
          <a:ln/>
        </p:spPr>
        <p:txBody>
          <a:bodyPr wrap="square" rtlCol="0" anchor="ctr"/>
          <a:lstStyle/>
          <a:p>
            <a:pPr marL="0" indent="0">
              <a:buNone/>
            </a:pPr>
            <a:r>
              <a:rPr lang="en-US" sz="900" dirty="0">
                <a:solidFill>
                  <a:srgbClr val="5A6B87"/>
                </a:solidFill>
                <a:latin typeface="Calibri" pitchFamily="34" charset="0"/>
                <a:ea typeface="Calibri" pitchFamily="34" charset="-122"/>
                <a:cs typeface="Calibri" pitchFamily="34" charset="-120"/>
              </a:rPr>
              <a:t>Mini Search Engine  |  AVL Tree &amp; B-Tree Indexing</a:t>
            </a:r>
            <a:endParaRPr lang="en-US" sz="900" dirty="0"/>
          </a:p>
        </p:txBody>
      </p:sp>
      <p:sp>
        <p:nvSpPr>
          <p:cNvPr id="8" name="Text 5"/>
          <p:cNvSpPr/>
          <p:nvPr/>
        </p:nvSpPr>
        <p:spPr>
          <a:xfrm>
            <a:off x="11521440" y="6528816"/>
            <a:ext cx="365760" cy="274320"/>
          </a:xfrm>
          <a:prstGeom prst="rect">
            <a:avLst/>
          </a:prstGeom>
          <a:noFill/>
          <a:ln/>
        </p:spPr>
        <p:txBody>
          <a:bodyPr wrap="square" rtlCol="0" anchor="ctr"/>
          <a:lstStyle/>
          <a:p>
            <a:pPr marL="0" indent="0" algn="r">
              <a:buNone/>
            </a:pPr>
            <a:r>
              <a:rPr lang="en-US" sz="900" dirty="0">
                <a:solidFill>
                  <a:srgbClr val="5A6B87"/>
                </a:solidFill>
                <a:latin typeface="Calibri" pitchFamily="34" charset="0"/>
                <a:ea typeface="Calibri" pitchFamily="34" charset="-122"/>
                <a:cs typeface="Calibri" pitchFamily="34" charset="-120"/>
              </a:rPr>
              <a:t>2</a:t>
            </a:r>
            <a:endParaRPr lang="en-US" sz="900" dirty="0"/>
          </a:p>
        </p:txBody>
      </p:sp>
      <p:sp>
        <p:nvSpPr>
          <p:cNvPr id="9" name="Text 6"/>
          <p:cNvSpPr/>
          <p:nvPr/>
        </p:nvSpPr>
        <p:spPr>
          <a:xfrm>
            <a:off x="502920" y="1600200"/>
            <a:ext cx="6537960" cy="4663440"/>
          </a:xfrm>
          <a:prstGeom prst="rect">
            <a:avLst/>
          </a:prstGeom>
          <a:noFill/>
          <a:ln/>
        </p:spPr>
        <p:txBody>
          <a:bodyPr wrap="square" rtlCol="0" anchor="t"/>
          <a:lstStyle/>
          <a:p>
            <a:pPr marL="228600" indent="-228600">
              <a:lnSpc>
                <a:spcPct val="115000"/>
              </a:lnSpc>
              <a:spcAft>
                <a:spcPts val="1200"/>
              </a:spcAft>
              <a:buSzPct val="100000"/>
              <a:buChar char="•"/>
            </a:pPr>
            <a:r>
              <a:rPr lang="en-US" sz="1500" dirty="0">
                <a:solidFill>
                  <a:srgbClr val="2A3350"/>
                </a:solidFill>
                <a:latin typeface="Calibri" pitchFamily="34" charset="0"/>
                <a:ea typeface="Calibri" pitchFamily="34" charset="-122"/>
                <a:cs typeface="Calibri" pitchFamily="34" charset="-120"/>
              </a:rPr>
              <a:t>Searching for a specific file among a large collection quickly becomes slow when checked one by one.</a:t>
            </a:r>
            <a:endParaRPr lang="en-US" sz="1500" dirty="0"/>
          </a:p>
          <a:p>
            <a:pPr marL="228600" indent="-228600">
              <a:lnSpc>
                <a:spcPct val="115000"/>
              </a:lnSpc>
              <a:spcAft>
                <a:spcPts val="1200"/>
              </a:spcAft>
              <a:buSzPct val="100000"/>
              <a:buChar char="•"/>
            </a:pPr>
            <a:r>
              <a:rPr lang="en-US" sz="1500" dirty="0">
                <a:solidFill>
                  <a:srgbClr val="2A3350"/>
                </a:solidFill>
                <a:latin typeface="Calibri" pitchFamily="34" charset="0"/>
                <a:ea typeface="Calibri" pitchFamily="34" charset="-122"/>
                <a:cs typeface="Calibri" pitchFamily="34" charset="-120"/>
              </a:rPr>
              <a:t>Traditional linear search compares every item in sequence, so search time grows directly with the number of files.</a:t>
            </a:r>
            <a:endParaRPr lang="en-US" sz="1500" dirty="0"/>
          </a:p>
          <a:p>
            <a:pPr marL="228600" indent="-228600">
              <a:lnSpc>
                <a:spcPct val="115000"/>
              </a:lnSpc>
              <a:spcAft>
                <a:spcPts val="1200"/>
              </a:spcAft>
              <a:buSzPct val="100000"/>
              <a:buChar char="•"/>
            </a:pPr>
            <a:r>
              <a:rPr lang="en-US" sz="1500" dirty="0">
                <a:solidFill>
                  <a:srgbClr val="2A3350"/>
                </a:solidFill>
                <a:latin typeface="Calibri" pitchFamily="34" charset="0"/>
                <a:ea typeface="Calibri" pitchFamily="34" charset="-122"/>
                <a:cs typeface="Calibri" pitchFamily="34" charset="-120"/>
              </a:rPr>
              <a:t>This project builds a Mini Search Engine that indexes file/document information instead of scanning it every time.</a:t>
            </a:r>
            <a:endParaRPr lang="en-US" sz="1500" dirty="0"/>
          </a:p>
          <a:p>
            <a:pPr marL="228600" indent="-228600">
              <a:lnSpc>
                <a:spcPct val="115000"/>
              </a:lnSpc>
              <a:spcAft>
                <a:spcPts val="1200"/>
              </a:spcAft>
              <a:buSzPct val="100000"/>
              <a:buChar char="•"/>
            </a:pPr>
            <a:r>
              <a:rPr lang="en-US" sz="1500" dirty="0">
                <a:solidFill>
                  <a:srgbClr val="2A3350"/>
                </a:solidFill>
                <a:latin typeface="Calibri" pitchFamily="34" charset="0"/>
                <a:ea typeface="Calibri" pitchFamily="34" charset="-122"/>
                <a:cs typeface="Calibri" pitchFamily="34" charset="-120"/>
              </a:rPr>
              <a:t>The index is organised using an AVL Tree and a B-Tree, both of which keep themselves balanced automatically.</a:t>
            </a:r>
            <a:endParaRPr lang="en-US" sz="1500" dirty="0"/>
          </a:p>
          <a:p>
            <a:pPr marL="228600" indent="-228600">
              <a:lnSpc>
                <a:spcPct val="115000"/>
              </a:lnSpc>
              <a:spcAft>
                <a:spcPts val="1200"/>
              </a:spcAft>
              <a:buSzPct val="100000"/>
              <a:buChar char="•"/>
            </a:pPr>
            <a:r>
              <a:rPr lang="en-US" sz="1500" dirty="0">
                <a:solidFill>
                  <a:srgbClr val="2A3350"/>
                </a:solidFill>
                <a:latin typeface="Calibri" pitchFamily="34" charset="0"/>
                <a:ea typeface="Calibri" pitchFamily="34" charset="-122"/>
                <a:cs typeface="Calibri" pitchFamily="34" charset="-120"/>
              </a:rPr>
              <a:t>The goal is to demonstrate how choosing the right data structure turns a slow, linear search into a fast, logarithmic one.</a:t>
            </a:r>
            <a:endParaRPr lang="en-US" sz="1500" dirty="0"/>
          </a:p>
        </p:txBody>
      </p:sp>
      <p:sp>
        <p:nvSpPr>
          <p:cNvPr id="10" name="Shape 7"/>
          <p:cNvSpPr/>
          <p:nvPr/>
        </p:nvSpPr>
        <p:spPr>
          <a:xfrm>
            <a:off x="7360920" y="1600200"/>
            <a:ext cx="4325112" cy="4663440"/>
          </a:xfrm>
          <a:prstGeom prst="roundRect">
            <a:avLst>
              <a:gd name="adj" fmla="val 2537"/>
            </a:avLst>
          </a:prstGeom>
          <a:solidFill>
            <a:srgbClr val="F3F6FC"/>
          </a:solidFill>
          <a:ln/>
        </p:spPr>
      </p:sp>
      <p:sp>
        <p:nvSpPr>
          <p:cNvPr id="11" name="Text 8"/>
          <p:cNvSpPr/>
          <p:nvPr/>
        </p:nvSpPr>
        <p:spPr>
          <a:xfrm>
            <a:off x="7635240" y="1828800"/>
            <a:ext cx="3749040" cy="274320"/>
          </a:xfrm>
          <a:prstGeom prst="rect">
            <a:avLst/>
          </a:prstGeom>
          <a:noFill/>
          <a:ln/>
        </p:spPr>
        <p:txBody>
          <a:bodyPr wrap="square" rtlCol="0" anchor="ctr"/>
          <a:lstStyle/>
          <a:p>
            <a:pPr marL="0" indent="0">
              <a:buNone/>
            </a:pPr>
            <a:r>
              <a:rPr lang="en-US" sz="1100" b="1" kern="0" spc="200" dirty="0">
                <a:solidFill>
                  <a:srgbClr val="5A6B87"/>
                </a:solidFill>
                <a:latin typeface="Calibri" pitchFamily="34" charset="0"/>
                <a:ea typeface="Calibri" pitchFamily="34" charset="-122"/>
                <a:cs typeface="Calibri" pitchFamily="34" charset="-120"/>
              </a:rPr>
              <a:t>WHY IT MATTERS</a:t>
            </a:r>
            <a:endParaRPr lang="en-US" sz="1100" dirty="0"/>
          </a:p>
        </p:txBody>
      </p:sp>
      <p:sp>
        <p:nvSpPr>
          <p:cNvPr id="12" name="Text 9"/>
          <p:cNvSpPr/>
          <p:nvPr/>
        </p:nvSpPr>
        <p:spPr>
          <a:xfrm>
            <a:off x="7635240" y="2240280"/>
            <a:ext cx="3749040" cy="320040"/>
          </a:xfrm>
          <a:prstGeom prst="rect">
            <a:avLst/>
          </a:prstGeom>
          <a:noFill/>
          <a:ln/>
        </p:spPr>
        <p:txBody>
          <a:bodyPr wrap="square" rtlCol="0" anchor="ctr"/>
          <a:lstStyle/>
          <a:p>
            <a:pPr marL="0" indent="0">
              <a:buNone/>
            </a:pPr>
            <a:r>
              <a:rPr lang="en-US" sz="1400" dirty="0">
                <a:solidFill>
                  <a:srgbClr val="2A3350"/>
                </a:solidFill>
                <a:latin typeface="Calibri" pitchFamily="34" charset="0"/>
                <a:ea typeface="Calibri" pitchFamily="34" charset="-122"/>
                <a:cs typeface="Calibri" pitchFamily="34" charset="-120"/>
              </a:rPr>
              <a:t>Linear Search</a:t>
            </a:r>
            <a:endParaRPr lang="en-US" sz="1400" dirty="0"/>
          </a:p>
        </p:txBody>
      </p:sp>
      <p:sp>
        <p:nvSpPr>
          <p:cNvPr id="13" name="Text 10"/>
          <p:cNvSpPr/>
          <p:nvPr/>
        </p:nvSpPr>
        <p:spPr>
          <a:xfrm>
            <a:off x="7635240" y="2514600"/>
            <a:ext cx="3749040" cy="822960"/>
          </a:xfrm>
          <a:prstGeom prst="rect">
            <a:avLst/>
          </a:prstGeom>
          <a:noFill/>
          <a:ln/>
        </p:spPr>
        <p:txBody>
          <a:bodyPr wrap="square" rtlCol="0" anchor="ctr"/>
          <a:lstStyle/>
          <a:p>
            <a:pPr marL="0" indent="0">
              <a:buNone/>
            </a:pPr>
            <a:r>
              <a:rPr lang="en-US" sz="4600" b="1" dirty="0">
                <a:solidFill>
                  <a:srgbClr val="9AA6C9"/>
                </a:solidFill>
                <a:latin typeface="Cambria" pitchFamily="34" charset="0"/>
                <a:ea typeface="Cambria" pitchFamily="34" charset="-122"/>
                <a:cs typeface="Cambria" pitchFamily="34" charset="-120"/>
              </a:rPr>
              <a:t>O(n)</a:t>
            </a:r>
            <a:endParaRPr lang="en-US" sz="4600" dirty="0"/>
          </a:p>
        </p:txBody>
      </p:sp>
      <p:sp>
        <p:nvSpPr>
          <p:cNvPr id="14" name="Text 11"/>
          <p:cNvSpPr/>
          <p:nvPr/>
        </p:nvSpPr>
        <p:spPr>
          <a:xfrm>
            <a:off x="7635240" y="3291840"/>
            <a:ext cx="3749040" cy="320040"/>
          </a:xfrm>
          <a:prstGeom prst="rect">
            <a:avLst/>
          </a:prstGeom>
          <a:noFill/>
          <a:ln/>
        </p:spPr>
        <p:txBody>
          <a:bodyPr wrap="square" rtlCol="0" anchor="ctr"/>
          <a:lstStyle/>
          <a:p>
            <a:pPr marL="0" indent="0">
              <a:buNone/>
            </a:pPr>
            <a:r>
              <a:rPr lang="en-US" sz="1150" i="1" dirty="0">
                <a:solidFill>
                  <a:srgbClr val="5A6B87"/>
                </a:solidFill>
                <a:latin typeface="Calibri" pitchFamily="34" charset="0"/>
                <a:ea typeface="Calibri" pitchFamily="34" charset="-122"/>
                <a:cs typeface="Calibri" pitchFamily="34" charset="-120"/>
              </a:rPr>
              <a:t>Time grows with every new file added</a:t>
            </a:r>
            <a:endParaRPr lang="en-US" sz="1150" dirty="0"/>
          </a:p>
        </p:txBody>
      </p:sp>
      <p:sp>
        <p:nvSpPr>
          <p:cNvPr id="15" name="Shape 12"/>
          <p:cNvSpPr/>
          <p:nvPr/>
        </p:nvSpPr>
        <p:spPr>
          <a:xfrm>
            <a:off x="7635240" y="3794760"/>
            <a:ext cx="3749040" cy="0"/>
          </a:xfrm>
          <a:prstGeom prst="line">
            <a:avLst/>
          </a:prstGeom>
          <a:noFill/>
          <a:ln w="12700">
            <a:solidFill>
              <a:srgbClr val="E3E8F2"/>
            </a:solidFill>
            <a:prstDash val="solid"/>
          </a:ln>
        </p:spPr>
      </p:sp>
      <p:sp>
        <p:nvSpPr>
          <p:cNvPr id="16" name="Text 13"/>
          <p:cNvSpPr/>
          <p:nvPr/>
        </p:nvSpPr>
        <p:spPr>
          <a:xfrm>
            <a:off x="7635240" y="3977640"/>
            <a:ext cx="3749040" cy="320040"/>
          </a:xfrm>
          <a:prstGeom prst="rect">
            <a:avLst/>
          </a:prstGeom>
          <a:noFill/>
          <a:ln/>
        </p:spPr>
        <p:txBody>
          <a:bodyPr wrap="square" rtlCol="0" anchor="ctr"/>
          <a:lstStyle/>
          <a:p>
            <a:pPr marL="0" indent="0">
              <a:buNone/>
            </a:pPr>
            <a:r>
              <a:rPr lang="en-US" sz="1400" dirty="0">
                <a:solidFill>
                  <a:srgbClr val="2A3350"/>
                </a:solidFill>
                <a:latin typeface="Calibri" pitchFamily="34" charset="0"/>
                <a:ea typeface="Calibri" pitchFamily="34" charset="-122"/>
                <a:cs typeface="Calibri" pitchFamily="34" charset="-120"/>
              </a:rPr>
              <a:t>AVL Tree / B-Tree Search</a:t>
            </a:r>
            <a:endParaRPr lang="en-US" sz="1400" dirty="0"/>
          </a:p>
        </p:txBody>
      </p:sp>
      <p:sp>
        <p:nvSpPr>
          <p:cNvPr id="17" name="Text 14"/>
          <p:cNvSpPr/>
          <p:nvPr/>
        </p:nvSpPr>
        <p:spPr>
          <a:xfrm>
            <a:off x="7635240" y="4251960"/>
            <a:ext cx="3749040" cy="822960"/>
          </a:xfrm>
          <a:prstGeom prst="rect">
            <a:avLst/>
          </a:prstGeom>
          <a:noFill/>
          <a:ln/>
        </p:spPr>
        <p:txBody>
          <a:bodyPr wrap="square" rtlCol="0" anchor="ctr"/>
          <a:lstStyle/>
          <a:p>
            <a:pPr marL="0" indent="0">
              <a:buNone/>
            </a:pPr>
            <a:r>
              <a:rPr lang="en-US" sz="4600" b="1" dirty="0">
                <a:solidFill>
                  <a:srgbClr val="1E2761"/>
                </a:solidFill>
                <a:latin typeface="Cambria" pitchFamily="34" charset="0"/>
                <a:ea typeface="Cambria" pitchFamily="34" charset="-122"/>
                <a:cs typeface="Cambria" pitchFamily="34" charset="-120"/>
              </a:rPr>
              <a:t>O(log n)</a:t>
            </a:r>
            <a:endParaRPr lang="en-US" sz="4600" dirty="0"/>
          </a:p>
        </p:txBody>
      </p:sp>
      <p:sp>
        <p:nvSpPr>
          <p:cNvPr id="18" name="Text 15"/>
          <p:cNvSpPr/>
          <p:nvPr/>
        </p:nvSpPr>
        <p:spPr>
          <a:xfrm>
            <a:off x="7635240" y="5029200"/>
            <a:ext cx="3749040" cy="320040"/>
          </a:xfrm>
          <a:prstGeom prst="rect">
            <a:avLst/>
          </a:prstGeom>
          <a:noFill/>
          <a:ln/>
        </p:spPr>
        <p:txBody>
          <a:bodyPr wrap="square" rtlCol="0" anchor="ctr"/>
          <a:lstStyle/>
          <a:p>
            <a:pPr marL="0" indent="0">
              <a:buNone/>
            </a:pPr>
            <a:r>
              <a:rPr lang="en-US" sz="1150" i="1" dirty="0">
                <a:solidFill>
                  <a:srgbClr val="5A6B87"/>
                </a:solidFill>
                <a:latin typeface="Calibri" pitchFamily="34" charset="0"/>
                <a:ea typeface="Calibri" pitchFamily="34" charset="-122"/>
                <a:cs typeface="Calibri" pitchFamily="34" charset="-120"/>
              </a:rPr>
              <a:t>Balanced structure keeps search fast at scale</a:t>
            </a:r>
            <a:endParaRPr lang="en-US" sz="1150" dirty="0"/>
          </a:p>
        </p:txBody>
      </p:sp>
      <p:sp>
        <p:nvSpPr>
          <p:cNvPr id="19" name="Shape 16"/>
          <p:cNvSpPr/>
          <p:nvPr/>
        </p:nvSpPr>
        <p:spPr>
          <a:xfrm>
            <a:off x="7635240" y="5532120"/>
            <a:ext cx="3776472" cy="548640"/>
          </a:xfrm>
          <a:prstGeom prst="roundRect">
            <a:avLst>
              <a:gd name="adj" fmla="val 13333"/>
            </a:avLst>
          </a:prstGeom>
          <a:solidFill>
            <a:srgbClr val="1E2761"/>
          </a:solidFill>
          <a:ln/>
        </p:spPr>
      </p:sp>
      <p:sp>
        <p:nvSpPr>
          <p:cNvPr id="20" name="Text 17"/>
          <p:cNvSpPr/>
          <p:nvPr/>
        </p:nvSpPr>
        <p:spPr>
          <a:xfrm>
            <a:off x="7635240" y="5532120"/>
            <a:ext cx="3776472" cy="548640"/>
          </a:xfrm>
          <a:prstGeom prst="rect">
            <a:avLst/>
          </a:prstGeom>
          <a:noFill/>
          <a:ln/>
        </p:spPr>
        <p:txBody>
          <a:bodyPr wrap="square" rtlCol="0" anchor="ctr"/>
          <a:lstStyle/>
          <a:p>
            <a:pPr marL="0" indent="0" algn="ctr">
              <a:buNone/>
            </a:pPr>
            <a:r>
              <a:rPr lang="en-US" sz="1250" b="1" dirty="0">
                <a:solidFill>
                  <a:srgbClr val="FFC145"/>
                </a:solidFill>
                <a:latin typeface="Calibri" pitchFamily="34" charset="0"/>
                <a:ea typeface="Calibri" pitchFamily="34" charset="-122"/>
                <a:cs typeface="Calibri" pitchFamily="34" charset="-120"/>
              </a:rPr>
              <a:t>Fewer comparisons → faster results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CADCFC"/>
          </a:solidFill>
          <a:ln/>
        </p:spPr>
      </p:sp>
      <p:pic>
        <p:nvPicPr>
          <p:cNvPr id="3" name="Image 0" descr="/home/claude/proj/icons/sitemap.png"/>
          <p:cNvPicPr>
            <a:picLocks noChangeAspect="1"/>
          </p:cNvPicPr>
          <p:nvPr/>
        </p:nvPicPr>
        <p:blipFill>
          <a:blip r:embed="rId3"/>
          <a:stretch>
            <a:fillRect/>
          </a:stretch>
        </p:blipFill>
        <p:spPr>
          <a:xfrm>
            <a:off x="630479" y="584759"/>
            <a:ext cx="311810" cy="311810"/>
          </a:xfrm>
          <a:prstGeom prst="rect">
            <a:avLst/>
          </a:prstGeom>
        </p:spPr>
      </p:pic>
      <p:sp>
        <p:nvSpPr>
          <p:cNvPr id="4" name="Text 1"/>
          <p:cNvSpPr/>
          <p:nvPr/>
        </p:nvSpPr>
        <p:spPr>
          <a:xfrm>
            <a:off x="1234440" y="402336"/>
            <a:ext cx="7315200" cy="274320"/>
          </a:xfrm>
          <a:prstGeom prst="rect">
            <a:avLst/>
          </a:prstGeom>
          <a:noFill/>
          <a:ln/>
        </p:spPr>
        <p:txBody>
          <a:bodyPr wrap="square" rtlCol="0" anchor="ctr"/>
          <a:lstStyle/>
          <a:p>
            <a:pPr marL="0" indent="0">
              <a:buNone/>
            </a:pPr>
            <a:r>
              <a:rPr lang="en-US" sz="1200" b="1" kern="0" spc="200" dirty="0">
                <a:solidFill>
                  <a:srgbClr val="5A6B87"/>
                </a:solidFill>
                <a:latin typeface="Calibri" pitchFamily="34" charset="0"/>
                <a:ea typeface="Calibri" pitchFamily="34" charset="-122"/>
                <a:cs typeface="Calibri" pitchFamily="34" charset="-120"/>
              </a:rPr>
              <a:t>BACKGROUND &amp; MOTIVATION</a:t>
            </a:r>
            <a:endParaRPr lang="en-US" sz="1200" dirty="0"/>
          </a:p>
        </p:txBody>
      </p:sp>
      <p:sp>
        <p:nvSpPr>
          <p:cNvPr id="5" name="Text 2"/>
          <p:cNvSpPr/>
          <p:nvPr/>
        </p:nvSpPr>
        <p:spPr>
          <a:xfrm>
            <a:off x="1234440" y="640080"/>
            <a:ext cx="9601200" cy="50292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Introduction</a:t>
            </a:r>
            <a:endParaRPr lang="en-US" sz="3000" dirty="0"/>
          </a:p>
        </p:txBody>
      </p:sp>
      <p:sp>
        <p:nvSpPr>
          <p:cNvPr id="6" name="Shape 3"/>
          <p:cNvSpPr/>
          <p:nvPr/>
        </p:nvSpPr>
        <p:spPr>
          <a:xfrm>
            <a:off x="502920" y="1298448"/>
            <a:ext cx="11183112" cy="0"/>
          </a:xfrm>
          <a:prstGeom prst="line">
            <a:avLst/>
          </a:prstGeom>
          <a:noFill/>
          <a:ln w="15875">
            <a:solidFill>
              <a:srgbClr val="E3E8F2"/>
            </a:solidFill>
            <a:prstDash val="solid"/>
          </a:ln>
        </p:spPr>
      </p:sp>
      <p:sp>
        <p:nvSpPr>
          <p:cNvPr id="7" name="Text 4"/>
          <p:cNvSpPr/>
          <p:nvPr/>
        </p:nvSpPr>
        <p:spPr>
          <a:xfrm>
            <a:off x="502920" y="6528816"/>
            <a:ext cx="7315200" cy="274320"/>
          </a:xfrm>
          <a:prstGeom prst="rect">
            <a:avLst/>
          </a:prstGeom>
          <a:noFill/>
          <a:ln/>
        </p:spPr>
        <p:txBody>
          <a:bodyPr wrap="square" rtlCol="0" anchor="ctr"/>
          <a:lstStyle/>
          <a:p>
            <a:pPr marL="0" indent="0">
              <a:buNone/>
            </a:pPr>
            <a:r>
              <a:rPr lang="en-US" sz="900" dirty="0">
                <a:solidFill>
                  <a:srgbClr val="5A6B87"/>
                </a:solidFill>
                <a:latin typeface="Calibri" pitchFamily="34" charset="0"/>
                <a:ea typeface="Calibri" pitchFamily="34" charset="-122"/>
                <a:cs typeface="Calibri" pitchFamily="34" charset="-120"/>
              </a:rPr>
              <a:t>Mini Search Engine  |  AVL Tree &amp; B-Tree Indexing</a:t>
            </a:r>
            <a:endParaRPr lang="en-US" sz="900" dirty="0"/>
          </a:p>
        </p:txBody>
      </p:sp>
      <p:sp>
        <p:nvSpPr>
          <p:cNvPr id="8" name="Text 5"/>
          <p:cNvSpPr/>
          <p:nvPr/>
        </p:nvSpPr>
        <p:spPr>
          <a:xfrm>
            <a:off x="11521440" y="6528816"/>
            <a:ext cx="365760" cy="274320"/>
          </a:xfrm>
          <a:prstGeom prst="rect">
            <a:avLst/>
          </a:prstGeom>
          <a:noFill/>
          <a:ln/>
        </p:spPr>
        <p:txBody>
          <a:bodyPr wrap="square" rtlCol="0" anchor="ctr"/>
          <a:lstStyle/>
          <a:p>
            <a:pPr marL="0" indent="0" algn="r">
              <a:buNone/>
            </a:pPr>
            <a:r>
              <a:rPr lang="en-US" sz="900" dirty="0">
                <a:solidFill>
                  <a:srgbClr val="5A6B87"/>
                </a:solidFill>
                <a:latin typeface="Calibri" pitchFamily="34" charset="0"/>
                <a:ea typeface="Calibri" pitchFamily="34" charset="-122"/>
                <a:cs typeface="Calibri" pitchFamily="34" charset="-120"/>
              </a:rPr>
              <a:t>3</a:t>
            </a:r>
            <a:endParaRPr lang="en-US" sz="900" dirty="0"/>
          </a:p>
        </p:txBody>
      </p:sp>
      <p:sp>
        <p:nvSpPr>
          <p:cNvPr id="9" name="Shape 6"/>
          <p:cNvSpPr/>
          <p:nvPr/>
        </p:nvSpPr>
        <p:spPr>
          <a:xfrm>
            <a:off x="502920" y="1627632"/>
            <a:ext cx="146304" cy="146304"/>
          </a:xfrm>
          <a:prstGeom prst="ellipse">
            <a:avLst/>
          </a:prstGeom>
          <a:solidFill>
            <a:srgbClr val="FFC145"/>
          </a:solidFill>
          <a:ln/>
        </p:spPr>
      </p:sp>
      <p:sp>
        <p:nvSpPr>
          <p:cNvPr id="10" name="Text 7"/>
          <p:cNvSpPr/>
          <p:nvPr/>
        </p:nvSpPr>
        <p:spPr>
          <a:xfrm>
            <a:off x="777240" y="1527048"/>
            <a:ext cx="6309360" cy="292608"/>
          </a:xfrm>
          <a:prstGeom prst="rect">
            <a:avLst/>
          </a:prstGeom>
          <a:noFill/>
          <a:ln/>
        </p:spPr>
        <p:txBody>
          <a:bodyPr wrap="square"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What a search engine does</a:t>
            </a:r>
            <a:endParaRPr lang="en-US" sz="1450" dirty="0"/>
          </a:p>
        </p:txBody>
      </p:sp>
      <p:sp>
        <p:nvSpPr>
          <p:cNvPr id="11" name="Text 8"/>
          <p:cNvSpPr/>
          <p:nvPr/>
        </p:nvSpPr>
        <p:spPr>
          <a:xfrm>
            <a:off x="777240" y="1819656"/>
            <a:ext cx="6309360" cy="457200"/>
          </a:xfrm>
          <a:prstGeom prst="rect">
            <a:avLst/>
          </a:prstGeom>
          <a:noFill/>
          <a:ln/>
        </p:spPr>
        <p:txBody>
          <a:bodyPr wrap="square" rtlCol="0" anchor="ctr"/>
          <a:lstStyle/>
          <a:p>
            <a:pPr marL="0" indent="0">
              <a:lnSpc>
                <a:spcPct val="110000"/>
              </a:lnSpc>
              <a:buNone/>
            </a:pPr>
            <a:r>
              <a:rPr lang="en-US" sz="1250" dirty="0">
                <a:solidFill>
                  <a:srgbClr val="5A6B87"/>
                </a:solidFill>
                <a:latin typeface="Calibri" pitchFamily="34" charset="0"/>
                <a:ea typeface="Calibri" pitchFamily="34" charset="-122"/>
                <a:cs typeface="Calibri" pitchFamily="34" charset="-120"/>
              </a:rPr>
              <a:t>Takes a query from the user and returns matching files/documents quickly and accurately.</a:t>
            </a:r>
            <a:endParaRPr lang="en-US" sz="1250" dirty="0"/>
          </a:p>
        </p:txBody>
      </p:sp>
      <p:sp>
        <p:nvSpPr>
          <p:cNvPr id="12" name="Shape 9"/>
          <p:cNvSpPr/>
          <p:nvPr/>
        </p:nvSpPr>
        <p:spPr>
          <a:xfrm>
            <a:off x="502920" y="2679192"/>
            <a:ext cx="146304" cy="146304"/>
          </a:xfrm>
          <a:prstGeom prst="ellipse">
            <a:avLst/>
          </a:prstGeom>
          <a:solidFill>
            <a:srgbClr val="FFC145"/>
          </a:solidFill>
          <a:ln/>
        </p:spPr>
      </p:sp>
      <p:sp>
        <p:nvSpPr>
          <p:cNvPr id="13" name="Text 10"/>
          <p:cNvSpPr/>
          <p:nvPr/>
        </p:nvSpPr>
        <p:spPr>
          <a:xfrm>
            <a:off x="777240" y="2578608"/>
            <a:ext cx="6309360" cy="292608"/>
          </a:xfrm>
          <a:prstGeom prst="rect">
            <a:avLst/>
          </a:prstGeom>
          <a:noFill/>
          <a:ln/>
        </p:spPr>
        <p:txBody>
          <a:bodyPr wrap="square"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Why indexing matters</a:t>
            </a:r>
            <a:endParaRPr lang="en-US" sz="1450" dirty="0"/>
          </a:p>
        </p:txBody>
      </p:sp>
      <p:sp>
        <p:nvSpPr>
          <p:cNvPr id="14" name="Text 11"/>
          <p:cNvSpPr/>
          <p:nvPr/>
        </p:nvSpPr>
        <p:spPr>
          <a:xfrm>
            <a:off x="777240" y="2871216"/>
            <a:ext cx="6309360" cy="457200"/>
          </a:xfrm>
          <a:prstGeom prst="rect">
            <a:avLst/>
          </a:prstGeom>
          <a:noFill/>
          <a:ln/>
        </p:spPr>
        <p:txBody>
          <a:bodyPr wrap="square" rtlCol="0" anchor="ctr"/>
          <a:lstStyle/>
          <a:p>
            <a:pPr marL="0" indent="0">
              <a:lnSpc>
                <a:spcPct val="110000"/>
              </a:lnSpc>
              <a:buNone/>
            </a:pPr>
            <a:r>
              <a:rPr lang="en-US" sz="1250" dirty="0">
                <a:solidFill>
                  <a:srgbClr val="5A6B87"/>
                </a:solidFill>
                <a:latin typeface="Calibri" pitchFamily="34" charset="0"/>
                <a:ea typeface="Calibri" pitchFamily="34" charset="-122"/>
                <a:cs typeface="Calibri" pitchFamily="34" charset="-120"/>
              </a:rPr>
              <a:t>An index pre-organises information so the engine doesn't have to re-scan every file per query.</a:t>
            </a:r>
            <a:endParaRPr lang="en-US" sz="1250" dirty="0"/>
          </a:p>
        </p:txBody>
      </p:sp>
      <p:sp>
        <p:nvSpPr>
          <p:cNvPr id="15" name="Shape 12"/>
          <p:cNvSpPr/>
          <p:nvPr/>
        </p:nvSpPr>
        <p:spPr>
          <a:xfrm>
            <a:off x="502920" y="3730752"/>
            <a:ext cx="146304" cy="146304"/>
          </a:xfrm>
          <a:prstGeom prst="ellipse">
            <a:avLst/>
          </a:prstGeom>
          <a:solidFill>
            <a:srgbClr val="FFC145"/>
          </a:solidFill>
          <a:ln/>
        </p:spPr>
      </p:sp>
      <p:sp>
        <p:nvSpPr>
          <p:cNvPr id="16" name="Text 13"/>
          <p:cNvSpPr/>
          <p:nvPr/>
        </p:nvSpPr>
        <p:spPr>
          <a:xfrm>
            <a:off x="777240" y="3630168"/>
            <a:ext cx="6309360" cy="292608"/>
          </a:xfrm>
          <a:prstGeom prst="rect">
            <a:avLst/>
          </a:prstGeom>
          <a:noFill/>
          <a:ln/>
        </p:spPr>
        <p:txBody>
          <a:bodyPr wrap="square"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The problem with sequential search</a:t>
            </a:r>
            <a:endParaRPr lang="en-US" sz="1450" dirty="0"/>
          </a:p>
        </p:txBody>
      </p:sp>
      <p:sp>
        <p:nvSpPr>
          <p:cNvPr id="17" name="Text 14"/>
          <p:cNvSpPr/>
          <p:nvPr/>
        </p:nvSpPr>
        <p:spPr>
          <a:xfrm>
            <a:off x="777240" y="3922776"/>
            <a:ext cx="6309360" cy="457200"/>
          </a:xfrm>
          <a:prstGeom prst="rect">
            <a:avLst/>
          </a:prstGeom>
          <a:noFill/>
          <a:ln/>
        </p:spPr>
        <p:txBody>
          <a:bodyPr wrap="square" rtlCol="0" anchor="ctr"/>
          <a:lstStyle/>
          <a:p>
            <a:pPr marL="0" indent="0">
              <a:lnSpc>
                <a:spcPct val="110000"/>
              </a:lnSpc>
              <a:buNone/>
            </a:pPr>
            <a:r>
              <a:rPr lang="en-US" sz="1250" dirty="0">
                <a:solidFill>
                  <a:srgbClr val="5A6B87"/>
                </a:solidFill>
                <a:latin typeface="Calibri" pitchFamily="34" charset="0"/>
                <a:ea typeface="Calibri" pitchFamily="34" charset="-122"/>
                <a:cs typeface="Calibri" pitchFamily="34" charset="-120"/>
              </a:rPr>
              <a:t>Checking files one at a time is simple, but becomes impractical as the collection grows.</a:t>
            </a:r>
            <a:endParaRPr lang="en-US" sz="1250" dirty="0"/>
          </a:p>
        </p:txBody>
      </p:sp>
      <p:sp>
        <p:nvSpPr>
          <p:cNvPr id="18" name="Shape 15"/>
          <p:cNvSpPr/>
          <p:nvPr/>
        </p:nvSpPr>
        <p:spPr>
          <a:xfrm>
            <a:off x="502920" y="4782312"/>
            <a:ext cx="146304" cy="146304"/>
          </a:xfrm>
          <a:prstGeom prst="ellipse">
            <a:avLst/>
          </a:prstGeom>
          <a:solidFill>
            <a:srgbClr val="FFC145"/>
          </a:solidFill>
          <a:ln/>
        </p:spPr>
      </p:sp>
      <p:sp>
        <p:nvSpPr>
          <p:cNvPr id="19" name="Text 16"/>
          <p:cNvSpPr/>
          <p:nvPr/>
        </p:nvSpPr>
        <p:spPr>
          <a:xfrm>
            <a:off x="777240" y="4681728"/>
            <a:ext cx="6309360" cy="292608"/>
          </a:xfrm>
          <a:prstGeom prst="rect">
            <a:avLst/>
          </a:prstGeom>
          <a:noFill/>
          <a:ln/>
        </p:spPr>
        <p:txBody>
          <a:bodyPr wrap="square"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Why tree-based structures fit</a:t>
            </a:r>
            <a:endParaRPr lang="en-US" sz="1450" dirty="0"/>
          </a:p>
        </p:txBody>
      </p:sp>
      <p:sp>
        <p:nvSpPr>
          <p:cNvPr id="20" name="Text 17"/>
          <p:cNvSpPr/>
          <p:nvPr/>
        </p:nvSpPr>
        <p:spPr>
          <a:xfrm>
            <a:off x="777240" y="4974336"/>
            <a:ext cx="6309360" cy="457200"/>
          </a:xfrm>
          <a:prstGeom prst="rect">
            <a:avLst/>
          </a:prstGeom>
          <a:noFill/>
          <a:ln/>
        </p:spPr>
        <p:txBody>
          <a:bodyPr wrap="square" rtlCol="0" anchor="ctr"/>
          <a:lstStyle/>
          <a:p>
            <a:pPr marL="0" indent="0">
              <a:lnSpc>
                <a:spcPct val="110000"/>
              </a:lnSpc>
              <a:buNone/>
            </a:pPr>
            <a:r>
              <a:rPr lang="en-US" sz="1250" dirty="0">
                <a:solidFill>
                  <a:srgbClr val="5A6B87"/>
                </a:solidFill>
                <a:latin typeface="Calibri" pitchFamily="34" charset="0"/>
                <a:ea typeface="Calibri" pitchFamily="34" charset="-122"/>
                <a:cs typeface="Calibri" pitchFamily="34" charset="-120"/>
              </a:rPr>
              <a:t>AVL and B-Trees keep data sorted and balanced, giving consistently fast lookups.</a:t>
            </a:r>
            <a:endParaRPr lang="en-US" sz="1250" dirty="0"/>
          </a:p>
        </p:txBody>
      </p:sp>
      <p:sp>
        <p:nvSpPr>
          <p:cNvPr id="21" name="Shape 18"/>
          <p:cNvSpPr/>
          <p:nvPr/>
        </p:nvSpPr>
        <p:spPr>
          <a:xfrm>
            <a:off x="502920" y="5623560"/>
            <a:ext cx="6309360" cy="685800"/>
          </a:xfrm>
          <a:prstGeom prst="roundRect">
            <a:avLst>
              <a:gd name="adj" fmla="val 10667"/>
            </a:avLst>
          </a:prstGeom>
          <a:solidFill>
            <a:srgbClr val="F3F6FC"/>
          </a:solidFill>
          <a:ln/>
        </p:spPr>
      </p:sp>
      <p:sp>
        <p:nvSpPr>
          <p:cNvPr id="22" name="Text 19"/>
          <p:cNvSpPr/>
          <p:nvPr/>
        </p:nvSpPr>
        <p:spPr>
          <a:xfrm>
            <a:off x="731520" y="5623560"/>
            <a:ext cx="5852160" cy="68580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In short:  </a:t>
            </a:r>
            <a:r>
              <a:rPr lang="en-US" sz="1200" dirty="0">
                <a:solidFill>
                  <a:srgbClr val="2A3350"/>
                </a:solidFill>
                <a:latin typeface="Calibri" pitchFamily="34" charset="0"/>
                <a:ea typeface="Calibri" pitchFamily="34" charset="-122"/>
                <a:cs typeface="Calibri" pitchFamily="34" charset="-120"/>
              </a:rPr>
              <a:t>index once, search many times — that's the core idea this project puts into practice.</a:t>
            </a:r>
            <a:endParaRPr lang="en-US" sz="1200" dirty="0"/>
          </a:p>
        </p:txBody>
      </p:sp>
      <p:sp>
        <p:nvSpPr>
          <p:cNvPr id="23" name="Text 20"/>
          <p:cNvSpPr/>
          <p:nvPr/>
        </p:nvSpPr>
        <p:spPr>
          <a:xfrm>
            <a:off x="7360920" y="1572768"/>
            <a:ext cx="3657600" cy="274320"/>
          </a:xfrm>
          <a:prstGeom prst="rect">
            <a:avLst/>
          </a:prstGeom>
          <a:noFill/>
          <a:ln/>
        </p:spPr>
        <p:txBody>
          <a:bodyPr wrap="square" rtlCol="0" anchor="ctr"/>
          <a:lstStyle/>
          <a:p>
            <a:pPr marL="0" indent="0">
              <a:buNone/>
            </a:pPr>
            <a:r>
              <a:rPr lang="en-US" sz="1050" b="1" kern="0" spc="150" dirty="0">
                <a:solidFill>
                  <a:srgbClr val="5A6B87"/>
                </a:solidFill>
                <a:latin typeface="Calibri" pitchFamily="34" charset="0"/>
                <a:ea typeface="Calibri" pitchFamily="34" charset="-122"/>
                <a:cs typeface="Calibri" pitchFamily="34" charset="-120"/>
              </a:rPr>
              <a:t>HOW IT FLOWS</a:t>
            </a:r>
            <a:endParaRPr lang="en-US" sz="1050" dirty="0"/>
          </a:p>
        </p:txBody>
      </p:sp>
      <p:sp>
        <p:nvSpPr>
          <p:cNvPr id="24" name="Shape 21"/>
          <p:cNvSpPr/>
          <p:nvPr/>
        </p:nvSpPr>
        <p:spPr>
          <a:xfrm>
            <a:off x="7132320" y="1965960"/>
            <a:ext cx="960120" cy="1234440"/>
          </a:xfrm>
          <a:prstGeom prst="roundRect">
            <a:avLst>
              <a:gd name="adj" fmla="val 9524"/>
            </a:avLst>
          </a:prstGeom>
          <a:solidFill>
            <a:srgbClr val="F3F6FC"/>
          </a:solidFill>
          <a:ln w="12700">
            <a:solidFill>
              <a:srgbClr val="E3E8F2"/>
            </a:solidFill>
            <a:prstDash val="solid"/>
          </a:ln>
        </p:spPr>
      </p:sp>
      <p:pic>
        <p:nvPicPr>
          <p:cNvPr id="25" name="Image 1" descr="/home/claude/proj/icons/file.png"/>
          <p:cNvPicPr>
            <a:picLocks noChangeAspect="1"/>
          </p:cNvPicPr>
          <p:nvPr/>
        </p:nvPicPr>
        <p:blipFill>
          <a:blip r:embed="rId4"/>
          <a:stretch>
            <a:fillRect/>
          </a:stretch>
        </p:blipFill>
        <p:spPr>
          <a:xfrm>
            <a:off x="7420356" y="2112264"/>
            <a:ext cx="384048" cy="384048"/>
          </a:xfrm>
          <a:prstGeom prst="rect">
            <a:avLst/>
          </a:prstGeom>
        </p:spPr>
      </p:pic>
      <p:sp>
        <p:nvSpPr>
          <p:cNvPr id="26" name="Text 22"/>
          <p:cNvSpPr/>
          <p:nvPr/>
        </p:nvSpPr>
        <p:spPr>
          <a:xfrm>
            <a:off x="7086600" y="2569464"/>
            <a:ext cx="1051560" cy="548640"/>
          </a:xfrm>
          <a:prstGeom prst="rect">
            <a:avLst/>
          </a:prstGeom>
          <a:noFill/>
          <a:ln/>
        </p:spPr>
        <p:txBody>
          <a:bodyPr wrap="square" rtlCol="0" anchor="ctr"/>
          <a:lstStyle/>
          <a:p>
            <a:pPr marL="0" indent="0" algn="ctr">
              <a:lnSpc>
                <a:spcPct val="100000"/>
              </a:lnSpc>
              <a:buNone/>
            </a:pPr>
            <a:r>
              <a:rPr lang="en-US" sz="950" b="1" dirty="0">
                <a:solidFill>
                  <a:srgbClr val="1E2761"/>
                </a:solidFill>
                <a:latin typeface="Calibri" pitchFamily="34" charset="0"/>
                <a:ea typeface="Calibri" pitchFamily="34" charset="-122"/>
                <a:cs typeface="Calibri" pitchFamily="34" charset="-120"/>
              </a:rPr>
              <a:t>Files /</a:t>
            </a:r>
            <a:endParaRPr lang="en-US" sz="950" dirty="0"/>
          </a:p>
          <a:p>
            <a:pPr marL="0" indent="0" algn="ctr">
              <a:lnSpc>
                <a:spcPct val="100000"/>
              </a:lnSpc>
              <a:buNone/>
            </a:pPr>
            <a:r>
              <a:rPr lang="en-US" sz="950" b="1" dirty="0">
                <a:solidFill>
                  <a:srgbClr val="1E2761"/>
                </a:solidFill>
                <a:latin typeface="Calibri" pitchFamily="34" charset="0"/>
                <a:ea typeface="Calibri" pitchFamily="34" charset="-122"/>
                <a:cs typeface="Calibri" pitchFamily="34" charset="-120"/>
              </a:rPr>
              <a:t>Documents</a:t>
            </a:r>
            <a:endParaRPr lang="en-US" sz="950" dirty="0"/>
          </a:p>
        </p:txBody>
      </p:sp>
      <p:sp>
        <p:nvSpPr>
          <p:cNvPr id="27" name="Text 23"/>
          <p:cNvSpPr/>
          <p:nvPr/>
        </p:nvSpPr>
        <p:spPr>
          <a:xfrm>
            <a:off x="8092440" y="2350008"/>
            <a:ext cx="320040" cy="457200"/>
          </a:xfrm>
          <a:prstGeom prst="rect">
            <a:avLst/>
          </a:prstGeom>
          <a:noFill/>
          <a:ln/>
        </p:spPr>
        <p:txBody>
          <a:bodyPr wrap="square" rtlCol="0" anchor="ctr"/>
          <a:lstStyle/>
          <a:p>
            <a:pPr marL="0" indent="0" algn="ctr">
              <a:buNone/>
            </a:pPr>
            <a:r>
              <a:rPr lang="en-US" sz="1800" b="1" dirty="0">
                <a:solidFill>
                  <a:srgbClr val="FFC145"/>
                </a:solidFill>
                <a:latin typeface="Arial" pitchFamily="34" charset="0"/>
                <a:ea typeface="Arial" pitchFamily="34" charset="-122"/>
                <a:cs typeface="Arial" pitchFamily="34" charset="-120"/>
              </a:rPr>
              <a:t>→</a:t>
            </a:r>
            <a:endParaRPr lang="en-US" sz="1800" dirty="0"/>
          </a:p>
        </p:txBody>
      </p:sp>
      <p:sp>
        <p:nvSpPr>
          <p:cNvPr id="28" name="Shape 24"/>
          <p:cNvSpPr/>
          <p:nvPr/>
        </p:nvSpPr>
        <p:spPr>
          <a:xfrm>
            <a:off x="8412480" y="1965960"/>
            <a:ext cx="960120" cy="1234440"/>
          </a:xfrm>
          <a:prstGeom prst="roundRect">
            <a:avLst>
              <a:gd name="adj" fmla="val 9524"/>
            </a:avLst>
          </a:prstGeom>
          <a:solidFill>
            <a:srgbClr val="F3F6FC"/>
          </a:solidFill>
          <a:ln w="12700">
            <a:solidFill>
              <a:srgbClr val="E3E8F2"/>
            </a:solidFill>
            <a:prstDash val="solid"/>
          </a:ln>
        </p:spPr>
      </p:sp>
      <p:pic>
        <p:nvPicPr>
          <p:cNvPr id="29" name="Image 2" descr="/home/claude/proj/icons/sitemap.png"/>
          <p:cNvPicPr>
            <a:picLocks noChangeAspect="1"/>
          </p:cNvPicPr>
          <p:nvPr/>
        </p:nvPicPr>
        <p:blipFill>
          <a:blip r:embed="rId3"/>
          <a:stretch>
            <a:fillRect/>
          </a:stretch>
        </p:blipFill>
        <p:spPr>
          <a:xfrm>
            <a:off x="8700516" y="2112264"/>
            <a:ext cx="384048" cy="384048"/>
          </a:xfrm>
          <a:prstGeom prst="rect">
            <a:avLst/>
          </a:prstGeom>
        </p:spPr>
      </p:pic>
      <p:sp>
        <p:nvSpPr>
          <p:cNvPr id="30" name="Text 25"/>
          <p:cNvSpPr/>
          <p:nvPr/>
        </p:nvSpPr>
        <p:spPr>
          <a:xfrm>
            <a:off x="8366760" y="2569464"/>
            <a:ext cx="1051560" cy="548640"/>
          </a:xfrm>
          <a:prstGeom prst="rect">
            <a:avLst/>
          </a:prstGeom>
          <a:noFill/>
          <a:ln/>
        </p:spPr>
        <p:txBody>
          <a:bodyPr wrap="square" rtlCol="0" anchor="ctr"/>
          <a:lstStyle/>
          <a:p>
            <a:pPr marL="0" indent="0" algn="ctr">
              <a:lnSpc>
                <a:spcPct val="100000"/>
              </a:lnSpc>
              <a:buNone/>
            </a:pPr>
            <a:r>
              <a:rPr lang="en-US" sz="950" b="1" dirty="0">
                <a:solidFill>
                  <a:srgbClr val="1E2761"/>
                </a:solidFill>
                <a:latin typeface="Calibri" pitchFamily="34" charset="0"/>
                <a:ea typeface="Calibri" pitchFamily="34" charset="-122"/>
                <a:cs typeface="Calibri" pitchFamily="34" charset="-120"/>
              </a:rPr>
              <a:t>Indexing</a:t>
            </a:r>
            <a:endParaRPr lang="en-US" sz="950" dirty="0"/>
          </a:p>
        </p:txBody>
      </p:sp>
      <p:sp>
        <p:nvSpPr>
          <p:cNvPr id="31" name="Text 26"/>
          <p:cNvSpPr/>
          <p:nvPr/>
        </p:nvSpPr>
        <p:spPr>
          <a:xfrm>
            <a:off x="9372600" y="2350008"/>
            <a:ext cx="320040" cy="457200"/>
          </a:xfrm>
          <a:prstGeom prst="rect">
            <a:avLst/>
          </a:prstGeom>
          <a:noFill/>
          <a:ln/>
        </p:spPr>
        <p:txBody>
          <a:bodyPr wrap="square" rtlCol="0" anchor="ctr"/>
          <a:lstStyle/>
          <a:p>
            <a:pPr marL="0" indent="0" algn="ctr">
              <a:buNone/>
            </a:pPr>
            <a:r>
              <a:rPr lang="en-US" sz="1800" b="1" dirty="0">
                <a:solidFill>
                  <a:srgbClr val="FFC145"/>
                </a:solidFill>
                <a:latin typeface="Arial" pitchFamily="34" charset="0"/>
                <a:ea typeface="Arial" pitchFamily="34" charset="-122"/>
                <a:cs typeface="Arial" pitchFamily="34" charset="-120"/>
              </a:rPr>
              <a:t>→</a:t>
            </a:r>
            <a:endParaRPr lang="en-US" sz="1800" dirty="0"/>
          </a:p>
        </p:txBody>
      </p:sp>
      <p:sp>
        <p:nvSpPr>
          <p:cNvPr id="32" name="Shape 27"/>
          <p:cNvSpPr/>
          <p:nvPr/>
        </p:nvSpPr>
        <p:spPr>
          <a:xfrm>
            <a:off x="9692640" y="1965960"/>
            <a:ext cx="960120" cy="1234440"/>
          </a:xfrm>
          <a:prstGeom prst="roundRect">
            <a:avLst>
              <a:gd name="adj" fmla="val 9524"/>
            </a:avLst>
          </a:prstGeom>
          <a:solidFill>
            <a:srgbClr val="F3F6FC"/>
          </a:solidFill>
          <a:ln w="12700">
            <a:solidFill>
              <a:srgbClr val="E3E8F2"/>
            </a:solidFill>
            <a:prstDash val="solid"/>
          </a:ln>
        </p:spPr>
      </p:sp>
      <p:pic>
        <p:nvPicPr>
          <p:cNvPr id="33" name="Image 3" descr="/home/claude/proj/icons/search.png"/>
          <p:cNvPicPr>
            <a:picLocks noChangeAspect="1"/>
          </p:cNvPicPr>
          <p:nvPr/>
        </p:nvPicPr>
        <p:blipFill>
          <a:blip r:embed="rId5"/>
          <a:stretch>
            <a:fillRect/>
          </a:stretch>
        </p:blipFill>
        <p:spPr>
          <a:xfrm>
            <a:off x="9980676" y="2112264"/>
            <a:ext cx="384048" cy="384048"/>
          </a:xfrm>
          <a:prstGeom prst="rect">
            <a:avLst/>
          </a:prstGeom>
        </p:spPr>
      </p:pic>
      <p:sp>
        <p:nvSpPr>
          <p:cNvPr id="34" name="Text 28"/>
          <p:cNvSpPr/>
          <p:nvPr/>
        </p:nvSpPr>
        <p:spPr>
          <a:xfrm>
            <a:off x="9646920" y="2569464"/>
            <a:ext cx="1051560" cy="548640"/>
          </a:xfrm>
          <a:prstGeom prst="rect">
            <a:avLst/>
          </a:prstGeom>
          <a:noFill/>
          <a:ln/>
        </p:spPr>
        <p:txBody>
          <a:bodyPr wrap="square" rtlCol="0" anchor="ctr"/>
          <a:lstStyle/>
          <a:p>
            <a:pPr marL="0" indent="0" algn="ctr">
              <a:lnSpc>
                <a:spcPct val="100000"/>
              </a:lnSpc>
              <a:buNone/>
            </a:pPr>
            <a:r>
              <a:rPr lang="en-US" sz="950" b="1" dirty="0">
                <a:solidFill>
                  <a:srgbClr val="1E2761"/>
                </a:solidFill>
                <a:latin typeface="Calibri" pitchFamily="34" charset="0"/>
                <a:ea typeface="Calibri" pitchFamily="34" charset="-122"/>
                <a:cs typeface="Calibri" pitchFamily="34" charset="-120"/>
              </a:rPr>
              <a:t>Search</a:t>
            </a:r>
            <a:endParaRPr lang="en-US" sz="950" dirty="0"/>
          </a:p>
          <a:p>
            <a:pPr marL="0" indent="0" algn="ctr">
              <a:lnSpc>
                <a:spcPct val="100000"/>
              </a:lnSpc>
              <a:buNone/>
            </a:pPr>
            <a:r>
              <a:rPr lang="en-US" sz="950" b="1" dirty="0">
                <a:solidFill>
                  <a:srgbClr val="1E2761"/>
                </a:solidFill>
                <a:latin typeface="Calibri" pitchFamily="34" charset="0"/>
                <a:ea typeface="Calibri" pitchFamily="34" charset="-122"/>
                <a:cs typeface="Calibri" pitchFamily="34" charset="-120"/>
              </a:rPr>
              <a:t>Query</a:t>
            </a:r>
            <a:endParaRPr lang="en-US" sz="950" dirty="0"/>
          </a:p>
        </p:txBody>
      </p:sp>
      <p:sp>
        <p:nvSpPr>
          <p:cNvPr id="35" name="Text 29"/>
          <p:cNvSpPr/>
          <p:nvPr/>
        </p:nvSpPr>
        <p:spPr>
          <a:xfrm>
            <a:off x="10652760" y="2350008"/>
            <a:ext cx="320040" cy="457200"/>
          </a:xfrm>
          <a:prstGeom prst="rect">
            <a:avLst/>
          </a:prstGeom>
          <a:noFill/>
          <a:ln/>
        </p:spPr>
        <p:txBody>
          <a:bodyPr wrap="square" rtlCol="0" anchor="ctr"/>
          <a:lstStyle/>
          <a:p>
            <a:pPr marL="0" indent="0" algn="ctr">
              <a:buNone/>
            </a:pPr>
            <a:r>
              <a:rPr lang="en-US" sz="1800" b="1" dirty="0">
                <a:solidFill>
                  <a:srgbClr val="FFC145"/>
                </a:solidFill>
                <a:latin typeface="Arial" pitchFamily="34" charset="0"/>
                <a:ea typeface="Arial" pitchFamily="34" charset="-122"/>
                <a:cs typeface="Arial" pitchFamily="34" charset="-120"/>
              </a:rPr>
              <a:t>→</a:t>
            </a:r>
            <a:endParaRPr lang="en-US" sz="1800" dirty="0"/>
          </a:p>
        </p:txBody>
      </p:sp>
      <p:sp>
        <p:nvSpPr>
          <p:cNvPr id="36" name="Shape 30"/>
          <p:cNvSpPr/>
          <p:nvPr/>
        </p:nvSpPr>
        <p:spPr>
          <a:xfrm>
            <a:off x="10972800" y="1965960"/>
            <a:ext cx="960120" cy="1234440"/>
          </a:xfrm>
          <a:prstGeom prst="roundRect">
            <a:avLst>
              <a:gd name="adj" fmla="val 9524"/>
            </a:avLst>
          </a:prstGeom>
          <a:solidFill>
            <a:srgbClr val="F3F6FC"/>
          </a:solidFill>
          <a:ln w="12700">
            <a:solidFill>
              <a:srgbClr val="E3E8F2"/>
            </a:solidFill>
            <a:prstDash val="solid"/>
          </a:ln>
        </p:spPr>
      </p:sp>
      <p:pic>
        <p:nvPicPr>
          <p:cNvPr id="37" name="Image 4" descr="/home/claude/proj/icons/checklist.png"/>
          <p:cNvPicPr>
            <a:picLocks noChangeAspect="1"/>
          </p:cNvPicPr>
          <p:nvPr/>
        </p:nvPicPr>
        <p:blipFill>
          <a:blip r:embed="rId6"/>
          <a:stretch>
            <a:fillRect/>
          </a:stretch>
        </p:blipFill>
        <p:spPr>
          <a:xfrm>
            <a:off x="11260836" y="2112264"/>
            <a:ext cx="384048" cy="384048"/>
          </a:xfrm>
          <a:prstGeom prst="rect">
            <a:avLst/>
          </a:prstGeom>
        </p:spPr>
      </p:pic>
      <p:sp>
        <p:nvSpPr>
          <p:cNvPr id="38" name="Text 31"/>
          <p:cNvSpPr/>
          <p:nvPr/>
        </p:nvSpPr>
        <p:spPr>
          <a:xfrm>
            <a:off x="10927080" y="2569464"/>
            <a:ext cx="1051560" cy="548640"/>
          </a:xfrm>
          <a:prstGeom prst="rect">
            <a:avLst/>
          </a:prstGeom>
          <a:noFill/>
          <a:ln/>
        </p:spPr>
        <p:txBody>
          <a:bodyPr wrap="square" rtlCol="0" anchor="ctr"/>
          <a:lstStyle/>
          <a:p>
            <a:pPr marL="0" indent="0" algn="ctr">
              <a:lnSpc>
                <a:spcPct val="100000"/>
              </a:lnSpc>
              <a:buNone/>
            </a:pPr>
            <a:r>
              <a:rPr lang="en-US" sz="950" b="1" dirty="0">
                <a:solidFill>
                  <a:srgbClr val="1E2761"/>
                </a:solidFill>
                <a:latin typeface="Calibri" pitchFamily="34" charset="0"/>
                <a:ea typeface="Calibri" pitchFamily="34" charset="-122"/>
                <a:cs typeface="Calibri" pitchFamily="34" charset="-120"/>
              </a:rPr>
              <a:t>Search</a:t>
            </a:r>
            <a:endParaRPr lang="en-US" sz="950" dirty="0"/>
          </a:p>
          <a:p>
            <a:pPr marL="0" indent="0" algn="ctr">
              <a:lnSpc>
                <a:spcPct val="100000"/>
              </a:lnSpc>
              <a:buNone/>
            </a:pPr>
            <a:r>
              <a:rPr lang="en-US" sz="950" b="1" dirty="0">
                <a:solidFill>
                  <a:srgbClr val="1E2761"/>
                </a:solidFill>
                <a:latin typeface="Calibri" pitchFamily="34" charset="0"/>
                <a:ea typeface="Calibri" pitchFamily="34" charset="-122"/>
                <a:cs typeface="Calibri" pitchFamily="34" charset="-120"/>
              </a:rPr>
              <a:t>Results</a:t>
            </a:r>
            <a:endParaRPr lang="en-US" sz="950" dirty="0"/>
          </a:p>
        </p:txBody>
      </p:sp>
      <p:sp>
        <p:nvSpPr>
          <p:cNvPr id="39" name="Shape 32"/>
          <p:cNvSpPr/>
          <p:nvPr/>
        </p:nvSpPr>
        <p:spPr>
          <a:xfrm>
            <a:off x="7360920" y="3429000"/>
            <a:ext cx="4343400" cy="2788920"/>
          </a:xfrm>
          <a:prstGeom prst="roundRect">
            <a:avLst>
              <a:gd name="adj" fmla="val 3934"/>
            </a:avLst>
          </a:prstGeom>
          <a:solidFill>
            <a:srgbClr val="1E2761"/>
          </a:solidFill>
          <a:ln/>
        </p:spPr>
      </p:sp>
      <p:sp>
        <p:nvSpPr>
          <p:cNvPr id="40" name="Text 33"/>
          <p:cNvSpPr/>
          <p:nvPr/>
        </p:nvSpPr>
        <p:spPr>
          <a:xfrm>
            <a:off x="7635240" y="3611880"/>
            <a:ext cx="3794760" cy="2468880"/>
          </a:xfrm>
          <a:prstGeom prst="rect">
            <a:avLst/>
          </a:prstGeom>
          <a:noFill/>
          <a:ln/>
        </p:spPr>
        <p:txBody>
          <a:bodyPr wrap="square" rtlCol="0" anchor="t"/>
          <a:lstStyle/>
          <a:p>
            <a:pPr marL="0" indent="0">
              <a:lnSpc>
                <a:spcPct val="130000"/>
              </a:lnSpc>
              <a:buNone/>
            </a:pPr>
            <a:r>
              <a:rPr lang="en-US" sz="1300" i="1" dirty="0">
                <a:solidFill>
                  <a:srgbClr val="CADCFC"/>
                </a:solidFill>
                <a:latin typeface="Calibri" pitchFamily="34" charset="0"/>
                <a:ea typeface="Calibri" pitchFamily="34" charset="-122"/>
                <a:cs typeface="Calibri" pitchFamily="34" charset="-120"/>
              </a:rPr>
              <a:t>A search engine is only as fast as its index. Trees let us organise once and search many times, instead of scanning the raw file list on every query.</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CADCFC"/>
          </a:solidFill>
          <a:ln/>
        </p:spPr>
      </p:sp>
      <p:pic>
        <p:nvPicPr>
          <p:cNvPr id="3" name="Image 0" descr="/home/claude/proj/icons/code.png"/>
          <p:cNvPicPr>
            <a:picLocks noChangeAspect="1"/>
          </p:cNvPicPr>
          <p:nvPr/>
        </p:nvPicPr>
        <p:blipFill>
          <a:blip r:embed="rId3"/>
          <a:stretch>
            <a:fillRect/>
          </a:stretch>
        </p:blipFill>
        <p:spPr>
          <a:xfrm>
            <a:off x="630479" y="584759"/>
            <a:ext cx="311810" cy="311810"/>
          </a:xfrm>
          <a:prstGeom prst="rect">
            <a:avLst/>
          </a:prstGeom>
        </p:spPr>
      </p:pic>
      <p:sp>
        <p:nvSpPr>
          <p:cNvPr id="4" name="Text 1"/>
          <p:cNvSpPr/>
          <p:nvPr/>
        </p:nvSpPr>
        <p:spPr>
          <a:xfrm>
            <a:off x="1234440" y="402336"/>
            <a:ext cx="7315200" cy="274320"/>
          </a:xfrm>
          <a:prstGeom prst="rect">
            <a:avLst/>
          </a:prstGeom>
          <a:noFill/>
          <a:ln/>
        </p:spPr>
        <p:txBody>
          <a:bodyPr wrap="square" rtlCol="0" anchor="ctr"/>
          <a:lstStyle/>
          <a:p>
            <a:pPr marL="0" indent="0">
              <a:buNone/>
            </a:pPr>
            <a:r>
              <a:rPr lang="en-US" sz="1200" b="1" kern="0" spc="200" dirty="0">
                <a:solidFill>
                  <a:srgbClr val="5A6B87"/>
                </a:solidFill>
                <a:latin typeface="Calibri" pitchFamily="34" charset="0"/>
                <a:ea typeface="Calibri" pitchFamily="34" charset="-122"/>
                <a:cs typeface="Calibri" pitchFamily="34" charset="-120"/>
              </a:rPr>
              <a:t>IMPLEMENTATION ENVIRONMENT</a:t>
            </a:r>
            <a:endParaRPr lang="en-US" sz="1200" dirty="0"/>
          </a:p>
        </p:txBody>
      </p:sp>
      <p:sp>
        <p:nvSpPr>
          <p:cNvPr id="5" name="Text 2"/>
          <p:cNvSpPr/>
          <p:nvPr/>
        </p:nvSpPr>
        <p:spPr>
          <a:xfrm>
            <a:off x="1234440" y="640080"/>
            <a:ext cx="9601200" cy="50292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Software &amp; Hardware Requirements</a:t>
            </a:r>
            <a:endParaRPr lang="en-US" sz="3000" dirty="0"/>
          </a:p>
        </p:txBody>
      </p:sp>
      <p:sp>
        <p:nvSpPr>
          <p:cNvPr id="6" name="Shape 3"/>
          <p:cNvSpPr/>
          <p:nvPr/>
        </p:nvSpPr>
        <p:spPr>
          <a:xfrm>
            <a:off x="502920" y="1298448"/>
            <a:ext cx="11183112" cy="0"/>
          </a:xfrm>
          <a:prstGeom prst="line">
            <a:avLst/>
          </a:prstGeom>
          <a:noFill/>
          <a:ln w="15875">
            <a:solidFill>
              <a:srgbClr val="E3E8F2"/>
            </a:solidFill>
            <a:prstDash val="solid"/>
          </a:ln>
        </p:spPr>
      </p:sp>
      <p:sp>
        <p:nvSpPr>
          <p:cNvPr id="7" name="Text 4"/>
          <p:cNvSpPr/>
          <p:nvPr/>
        </p:nvSpPr>
        <p:spPr>
          <a:xfrm>
            <a:off x="502920" y="6528816"/>
            <a:ext cx="7315200" cy="274320"/>
          </a:xfrm>
          <a:prstGeom prst="rect">
            <a:avLst/>
          </a:prstGeom>
          <a:noFill/>
          <a:ln/>
        </p:spPr>
        <p:txBody>
          <a:bodyPr wrap="square" rtlCol="0" anchor="ctr"/>
          <a:lstStyle/>
          <a:p>
            <a:pPr marL="0" indent="0">
              <a:buNone/>
            </a:pPr>
            <a:r>
              <a:rPr lang="en-US" sz="900" dirty="0">
                <a:solidFill>
                  <a:srgbClr val="5A6B87"/>
                </a:solidFill>
                <a:latin typeface="Calibri" pitchFamily="34" charset="0"/>
                <a:ea typeface="Calibri" pitchFamily="34" charset="-122"/>
                <a:cs typeface="Calibri" pitchFamily="34" charset="-120"/>
              </a:rPr>
              <a:t>Mini Search Engine  |  AVL Tree &amp; B-Tree Indexing</a:t>
            </a:r>
            <a:endParaRPr lang="en-US" sz="900" dirty="0"/>
          </a:p>
        </p:txBody>
      </p:sp>
      <p:sp>
        <p:nvSpPr>
          <p:cNvPr id="8" name="Text 5"/>
          <p:cNvSpPr/>
          <p:nvPr/>
        </p:nvSpPr>
        <p:spPr>
          <a:xfrm>
            <a:off x="11521440" y="6528816"/>
            <a:ext cx="365760" cy="274320"/>
          </a:xfrm>
          <a:prstGeom prst="rect">
            <a:avLst/>
          </a:prstGeom>
          <a:noFill/>
          <a:ln/>
        </p:spPr>
        <p:txBody>
          <a:bodyPr wrap="square" rtlCol="0" anchor="ctr"/>
          <a:lstStyle/>
          <a:p>
            <a:pPr marL="0" indent="0" algn="r">
              <a:buNone/>
            </a:pPr>
            <a:r>
              <a:rPr lang="en-US" sz="900" dirty="0">
                <a:solidFill>
                  <a:srgbClr val="5A6B87"/>
                </a:solidFill>
                <a:latin typeface="Calibri" pitchFamily="34" charset="0"/>
                <a:ea typeface="Calibri" pitchFamily="34" charset="-122"/>
                <a:cs typeface="Calibri" pitchFamily="34" charset="-120"/>
              </a:rPr>
              <a:t>4</a:t>
            </a:r>
            <a:endParaRPr lang="en-US" sz="900" dirty="0"/>
          </a:p>
        </p:txBody>
      </p:sp>
      <p:sp>
        <p:nvSpPr>
          <p:cNvPr id="9" name="Shape 6"/>
          <p:cNvSpPr/>
          <p:nvPr/>
        </p:nvSpPr>
        <p:spPr>
          <a:xfrm>
            <a:off x="502920" y="1600200"/>
            <a:ext cx="5349240" cy="4663440"/>
          </a:xfrm>
          <a:prstGeom prst="roundRect">
            <a:avLst>
              <a:gd name="adj" fmla="val 2353"/>
            </a:avLst>
          </a:prstGeom>
          <a:solidFill>
            <a:srgbClr val="F3F6FC"/>
          </a:solidFill>
          <a:ln/>
        </p:spPr>
      </p:sp>
      <p:sp>
        <p:nvSpPr>
          <p:cNvPr id="10" name="Shape 7"/>
          <p:cNvSpPr/>
          <p:nvPr/>
        </p:nvSpPr>
        <p:spPr>
          <a:xfrm>
            <a:off x="822960" y="1874520"/>
            <a:ext cx="502920" cy="502920"/>
          </a:xfrm>
          <a:prstGeom prst="ellipse">
            <a:avLst/>
          </a:prstGeom>
          <a:solidFill>
            <a:srgbClr val="CADCFC"/>
          </a:solidFill>
          <a:ln/>
        </p:spPr>
      </p:sp>
      <p:pic>
        <p:nvPicPr>
          <p:cNvPr id="11" name="Image 1" descr="/home/claude/proj/icons/ide.png"/>
          <p:cNvPicPr>
            <a:picLocks noChangeAspect="1"/>
          </p:cNvPicPr>
          <p:nvPr/>
        </p:nvPicPr>
        <p:blipFill>
          <a:blip r:embed="rId4"/>
          <a:stretch>
            <a:fillRect/>
          </a:stretch>
        </p:blipFill>
        <p:spPr>
          <a:xfrm>
            <a:off x="936117" y="1987677"/>
            <a:ext cx="276606" cy="276606"/>
          </a:xfrm>
          <a:prstGeom prst="rect">
            <a:avLst/>
          </a:prstGeom>
        </p:spPr>
      </p:pic>
      <p:sp>
        <p:nvSpPr>
          <p:cNvPr id="12" name="Text 8"/>
          <p:cNvSpPr/>
          <p:nvPr/>
        </p:nvSpPr>
        <p:spPr>
          <a:xfrm>
            <a:off x="1463040" y="1901952"/>
            <a:ext cx="3657600" cy="457200"/>
          </a:xfrm>
          <a:prstGeom prst="rect">
            <a:avLst/>
          </a:prstGeom>
          <a:noFill/>
          <a:ln/>
        </p:spPr>
        <p:txBody>
          <a:bodyPr wrap="square" rtlCol="0" anchor="ctr"/>
          <a:lstStyle/>
          <a:p>
            <a:pPr marL="0" indent="0">
              <a:buNone/>
            </a:pPr>
            <a:r>
              <a:rPr lang="en-US" sz="1700" b="1" dirty="0">
                <a:solidFill>
                  <a:srgbClr val="1E2761"/>
                </a:solidFill>
                <a:latin typeface="Calibri" pitchFamily="34" charset="0"/>
                <a:ea typeface="Calibri" pitchFamily="34" charset="-122"/>
                <a:cs typeface="Calibri" pitchFamily="34" charset="-120"/>
              </a:rPr>
              <a:t>Software Requirements</a:t>
            </a:r>
            <a:endParaRPr lang="en-US" sz="1700" dirty="0"/>
          </a:p>
        </p:txBody>
      </p:sp>
      <p:pic>
        <p:nvPicPr>
          <p:cNvPr id="13" name="Image 2" descr="/home/claude/proj/icons/code.png"/>
          <p:cNvPicPr>
            <a:picLocks noChangeAspect="1"/>
          </p:cNvPicPr>
          <p:nvPr/>
        </p:nvPicPr>
        <p:blipFill>
          <a:blip r:embed="rId3"/>
          <a:stretch>
            <a:fillRect/>
          </a:stretch>
        </p:blipFill>
        <p:spPr>
          <a:xfrm>
            <a:off x="822960" y="2606040"/>
            <a:ext cx="365760" cy="365760"/>
          </a:xfrm>
          <a:prstGeom prst="rect">
            <a:avLst/>
          </a:prstGeom>
        </p:spPr>
      </p:pic>
      <p:sp>
        <p:nvSpPr>
          <p:cNvPr id="14" name="Text 9"/>
          <p:cNvSpPr/>
          <p:nvPr/>
        </p:nvSpPr>
        <p:spPr>
          <a:xfrm>
            <a:off x="1371600" y="2551176"/>
            <a:ext cx="4069080" cy="27432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Java (JDK 8+)</a:t>
            </a:r>
            <a:endParaRPr lang="en-US" sz="1350" dirty="0"/>
          </a:p>
        </p:txBody>
      </p:sp>
      <p:sp>
        <p:nvSpPr>
          <p:cNvPr id="15" name="Text 10"/>
          <p:cNvSpPr/>
          <p:nvPr/>
        </p:nvSpPr>
        <p:spPr>
          <a:xfrm>
            <a:off x="1371600" y="2825496"/>
            <a:ext cx="4069080" cy="274320"/>
          </a:xfrm>
          <a:prstGeom prst="rect">
            <a:avLst/>
          </a:prstGeom>
          <a:noFill/>
          <a:ln/>
        </p:spPr>
        <p:txBody>
          <a:bodyPr wrap="square" rtlCol="0" anchor="ctr"/>
          <a:lstStyle/>
          <a:p>
            <a:pPr marL="0" indent="0">
              <a:buNone/>
            </a:pPr>
            <a:r>
              <a:rPr lang="en-US" sz="1150" dirty="0">
                <a:solidFill>
                  <a:srgbClr val="5A6B87"/>
                </a:solidFill>
                <a:latin typeface="Calibri" pitchFamily="34" charset="0"/>
                <a:ea typeface="Calibri" pitchFamily="34" charset="-122"/>
                <a:cs typeface="Calibri" pitchFamily="34" charset="-120"/>
              </a:rPr>
              <a:t>Core language for implementation</a:t>
            </a:r>
            <a:endParaRPr lang="en-US" sz="1150" dirty="0"/>
          </a:p>
        </p:txBody>
      </p:sp>
      <p:pic>
        <p:nvPicPr>
          <p:cNvPr id="16" name="Image 3" descr="/home/claude/proj/icons/ide.png"/>
          <p:cNvPicPr>
            <a:picLocks noChangeAspect="1"/>
          </p:cNvPicPr>
          <p:nvPr/>
        </p:nvPicPr>
        <p:blipFill>
          <a:blip r:embed="rId4"/>
          <a:stretch>
            <a:fillRect/>
          </a:stretch>
        </p:blipFill>
        <p:spPr>
          <a:xfrm>
            <a:off x="822960" y="3383280"/>
            <a:ext cx="365760" cy="365760"/>
          </a:xfrm>
          <a:prstGeom prst="rect">
            <a:avLst/>
          </a:prstGeom>
        </p:spPr>
      </p:pic>
      <p:sp>
        <p:nvSpPr>
          <p:cNvPr id="17" name="Text 11"/>
          <p:cNvSpPr/>
          <p:nvPr/>
        </p:nvSpPr>
        <p:spPr>
          <a:xfrm>
            <a:off x="1371600" y="3328416"/>
            <a:ext cx="4069080" cy="27432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IDE</a:t>
            </a:r>
            <a:endParaRPr lang="en-US" sz="1350" dirty="0"/>
          </a:p>
        </p:txBody>
      </p:sp>
      <p:sp>
        <p:nvSpPr>
          <p:cNvPr id="18" name="Text 12"/>
          <p:cNvSpPr/>
          <p:nvPr/>
        </p:nvSpPr>
        <p:spPr>
          <a:xfrm>
            <a:off x="1371600" y="3602736"/>
            <a:ext cx="4069080" cy="274320"/>
          </a:xfrm>
          <a:prstGeom prst="rect">
            <a:avLst/>
          </a:prstGeom>
          <a:noFill/>
          <a:ln/>
        </p:spPr>
        <p:txBody>
          <a:bodyPr wrap="square" rtlCol="0" anchor="ctr"/>
          <a:lstStyle/>
          <a:p>
            <a:pPr marL="0" indent="0">
              <a:buNone/>
            </a:pPr>
            <a:r>
              <a:rPr lang="en-US" sz="1150" dirty="0">
                <a:solidFill>
                  <a:srgbClr val="5A6B87"/>
                </a:solidFill>
                <a:latin typeface="Calibri" pitchFamily="34" charset="0"/>
                <a:ea typeface="Calibri" pitchFamily="34" charset="-122"/>
                <a:cs typeface="Calibri" pitchFamily="34" charset="-120"/>
              </a:rPr>
              <a:t>IntelliJ IDEA </a:t>
            </a:r>
            <a:endParaRPr lang="en-US" sz="1150" dirty="0"/>
          </a:p>
        </p:txBody>
      </p:sp>
      <p:pic>
        <p:nvPicPr>
          <p:cNvPr id="19" name="Image 4" descr="/home/claude/proj/icons/os.png"/>
          <p:cNvPicPr>
            <a:picLocks noChangeAspect="1"/>
          </p:cNvPicPr>
          <p:nvPr/>
        </p:nvPicPr>
        <p:blipFill>
          <a:blip r:embed="rId5"/>
          <a:stretch>
            <a:fillRect/>
          </a:stretch>
        </p:blipFill>
        <p:spPr>
          <a:xfrm>
            <a:off x="822960" y="4160520"/>
            <a:ext cx="365760" cy="365760"/>
          </a:xfrm>
          <a:prstGeom prst="rect">
            <a:avLst/>
          </a:prstGeom>
        </p:spPr>
      </p:pic>
      <p:sp>
        <p:nvSpPr>
          <p:cNvPr id="20" name="Text 13"/>
          <p:cNvSpPr/>
          <p:nvPr/>
        </p:nvSpPr>
        <p:spPr>
          <a:xfrm>
            <a:off x="1371600" y="4105656"/>
            <a:ext cx="4069080" cy="27432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Operating System</a:t>
            </a:r>
            <a:endParaRPr lang="en-US" sz="1350" dirty="0"/>
          </a:p>
        </p:txBody>
      </p:sp>
      <p:sp>
        <p:nvSpPr>
          <p:cNvPr id="21" name="Text 14"/>
          <p:cNvSpPr/>
          <p:nvPr/>
        </p:nvSpPr>
        <p:spPr>
          <a:xfrm>
            <a:off x="1371600" y="4379976"/>
            <a:ext cx="4069080" cy="274320"/>
          </a:xfrm>
          <a:prstGeom prst="rect">
            <a:avLst/>
          </a:prstGeom>
          <a:noFill/>
          <a:ln/>
        </p:spPr>
        <p:txBody>
          <a:bodyPr wrap="square" rtlCol="0" anchor="ctr"/>
          <a:lstStyle/>
          <a:p>
            <a:pPr marL="0" indent="0">
              <a:buNone/>
            </a:pPr>
            <a:r>
              <a:rPr lang="en-US" sz="1150" dirty="0">
                <a:solidFill>
                  <a:srgbClr val="5A6B87"/>
                </a:solidFill>
                <a:latin typeface="Calibri" pitchFamily="34" charset="0"/>
                <a:ea typeface="Calibri" pitchFamily="34" charset="-122"/>
                <a:cs typeface="Calibri" pitchFamily="34" charset="-120"/>
              </a:rPr>
              <a:t>Windows</a:t>
            </a:r>
            <a:endParaRPr lang="en-US" sz="1150" dirty="0"/>
          </a:p>
        </p:txBody>
      </p:sp>
      <p:pic>
        <p:nvPicPr>
          <p:cNvPr id="22" name="Image 5" descr="/home/claude/proj/icons/github.png"/>
          <p:cNvPicPr>
            <a:picLocks noChangeAspect="1"/>
          </p:cNvPicPr>
          <p:nvPr/>
        </p:nvPicPr>
        <p:blipFill>
          <a:blip r:embed="rId6"/>
          <a:stretch>
            <a:fillRect/>
          </a:stretch>
        </p:blipFill>
        <p:spPr>
          <a:xfrm>
            <a:off x="822960" y="4937760"/>
            <a:ext cx="365760" cy="365760"/>
          </a:xfrm>
          <a:prstGeom prst="rect">
            <a:avLst/>
          </a:prstGeom>
        </p:spPr>
      </p:pic>
      <p:sp>
        <p:nvSpPr>
          <p:cNvPr id="23" name="Text 15"/>
          <p:cNvSpPr/>
          <p:nvPr/>
        </p:nvSpPr>
        <p:spPr>
          <a:xfrm>
            <a:off x="1371600" y="4882896"/>
            <a:ext cx="4069080" cy="27432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Git &amp; GitHub</a:t>
            </a:r>
            <a:endParaRPr lang="en-US" sz="1350" dirty="0"/>
          </a:p>
        </p:txBody>
      </p:sp>
      <p:sp>
        <p:nvSpPr>
          <p:cNvPr id="24" name="Text 16"/>
          <p:cNvSpPr/>
          <p:nvPr/>
        </p:nvSpPr>
        <p:spPr>
          <a:xfrm>
            <a:off x="1371600" y="5157216"/>
            <a:ext cx="4069080" cy="274320"/>
          </a:xfrm>
          <a:prstGeom prst="rect">
            <a:avLst/>
          </a:prstGeom>
          <a:noFill/>
          <a:ln/>
        </p:spPr>
        <p:txBody>
          <a:bodyPr wrap="square" rtlCol="0" anchor="ctr"/>
          <a:lstStyle/>
          <a:p>
            <a:pPr marL="0" indent="0">
              <a:buNone/>
            </a:pPr>
            <a:r>
              <a:rPr lang="en-US" sz="1150" dirty="0">
                <a:solidFill>
                  <a:srgbClr val="5A6B87"/>
                </a:solidFill>
                <a:latin typeface="Calibri" pitchFamily="34" charset="0"/>
                <a:ea typeface="Calibri" pitchFamily="34" charset="-122"/>
                <a:cs typeface="Calibri" pitchFamily="34" charset="-120"/>
              </a:rPr>
              <a:t>Version control and submission</a:t>
            </a:r>
            <a:endParaRPr lang="en-US" sz="1150" dirty="0"/>
          </a:p>
        </p:txBody>
      </p:sp>
      <p:sp>
        <p:nvSpPr>
          <p:cNvPr id="25" name="Shape 17"/>
          <p:cNvSpPr/>
          <p:nvPr/>
        </p:nvSpPr>
        <p:spPr>
          <a:xfrm>
            <a:off x="6428232" y="1600200"/>
            <a:ext cx="5349240" cy="4663440"/>
          </a:xfrm>
          <a:prstGeom prst="roundRect">
            <a:avLst>
              <a:gd name="adj" fmla="val 2353"/>
            </a:avLst>
          </a:prstGeom>
          <a:solidFill>
            <a:srgbClr val="F3F6FC"/>
          </a:solidFill>
          <a:ln/>
        </p:spPr>
      </p:sp>
      <p:sp>
        <p:nvSpPr>
          <p:cNvPr id="26" name="Shape 18"/>
          <p:cNvSpPr/>
          <p:nvPr/>
        </p:nvSpPr>
        <p:spPr>
          <a:xfrm>
            <a:off x="6748272" y="1874520"/>
            <a:ext cx="502920" cy="502920"/>
          </a:xfrm>
          <a:prstGeom prst="ellipse">
            <a:avLst/>
          </a:prstGeom>
          <a:solidFill>
            <a:srgbClr val="CADCFC"/>
          </a:solidFill>
          <a:ln/>
        </p:spPr>
      </p:sp>
      <p:pic>
        <p:nvPicPr>
          <p:cNvPr id="27" name="Image 6" descr="/home/claude/proj/icons/cpu.png"/>
          <p:cNvPicPr>
            <a:picLocks noChangeAspect="1"/>
          </p:cNvPicPr>
          <p:nvPr/>
        </p:nvPicPr>
        <p:blipFill>
          <a:blip r:embed="rId7"/>
          <a:stretch>
            <a:fillRect/>
          </a:stretch>
        </p:blipFill>
        <p:spPr>
          <a:xfrm>
            <a:off x="6861429" y="1987677"/>
            <a:ext cx="276606" cy="276606"/>
          </a:xfrm>
          <a:prstGeom prst="rect">
            <a:avLst/>
          </a:prstGeom>
        </p:spPr>
      </p:pic>
      <p:sp>
        <p:nvSpPr>
          <p:cNvPr id="28" name="Text 19"/>
          <p:cNvSpPr/>
          <p:nvPr/>
        </p:nvSpPr>
        <p:spPr>
          <a:xfrm>
            <a:off x="7388352" y="1901952"/>
            <a:ext cx="3657600" cy="457200"/>
          </a:xfrm>
          <a:prstGeom prst="rect">
            <a:avLst/>
          </a:prstGeom>
          <a:noFill/>
          <a:ln/>
        </p:spPr>
        <p:txBody>
          <a:bodyPr wrap="square" rtlCol="0" anchor="ctr"/>
          <a:lstStyle/>
          <a:p>
            <a:pPr marL="0" indent="0">
              <a:buNone/>
            </a:pPr>
            <a:r>
              <a:rPr lang="en-US" sz="1700" b="1" dirty="0">
                <a:solidFill>
                  <a:srgbClr val="1E2761"/>
                </a:solidFill>
                <a:latin typeface="Calibri" pitchFamily="34" charset="0"/>
                <a:ea typeface="Calibri" pitchFamily="34" charset="-122"/>
                <a:cs typeface="Calibri" pitchFamily="34" charset="-120"/>
              </a:rPr>
              <a:t>Hardware Requirements</a:t>
            </a:r>
            <a:endParaRPr lang="en-US" sz="1700" dirty="0"/>
          </a:p>
        </p:txBody>
      </p:sp>
      <p:pic>
        <p:nvPicPr>
          <p:cNvPr id="29" name="Image 7" descr="/home/claude/proj/icons/cpu.png"/>
          <p:cNvPicPr>
            <a:picLocks noChangeAspect="1"/>
          </p:cNvPicPr>
          <p:nvPr/>
        </p:nvPicPr>
        <p:blipFill>
          <a:blip r:embed="rId7"/>
          <a:stretch>
            <a:fillRect/>
          </a:stretch>
        </p:blipFill>
        <p:spPr>
          <a:xfrm>
            <a:off x="6748272" y="2606040"/>
            <a:ext cx="365760" cy="365760"/>
          </a:xfrm>
          <a:prstGeom prst="rect">
            <a:avLst/>
          </a:prstGeom>
        </p:spPr>
      </p:pic>
      <p:sp>
        <p:nvSpPr>
          <p:cNvPr id="30" name="Text 20"/>
          <p:cNvSpPr/>
          <p:nvPr/>
        </p:nvSpPr>
        <p:spPr>
          <a:xfrm>
            <a:off x="7296912" y="2551176"/>
            <a:ext cx="4069080" cy="27432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Processor</a:t>
            </a:r>
            <a:endParaRPr lang="en-US" sz="1350" dirty="0"/>
          </a:p>
        </p:txBody>
      </p:sp>
      <p:sp>
        <p:nvSpPr>
          <p:cNvPr id="31" name="Text 21"/>
          <p:cNvSpPr/>
          <p:nvPr/>
        </p:nvSpPr>
        <p:spPr>
          <a:xfrm>
            <a:off x="7296912" y="2825496"/>
            <a:ext cx="4069080" cy="274320"/>
          </a:xfrm>
          <a:prstGeom prst="rect">
            <a:avLst/>
          </a:prstGeom>
          <a:noFill/>
          <a:ln/>
        </p:spPr>
        <p:txBody>
          <a:bodyPr wrap="square" rtlCol="0" anchor="ctr"/>
          <a:lstStyle/>
          <a:p>
            <a:pPr marL="0" indent="0">
              <a:buNone/>
            </a:pPr>
            <a:r>
              <a:rPr lang="en-US" sz="1150" dirty="0">
                <a:solidFill>
                  <a:srgbClr val="5A6B87"/>
                </a:solidFill>
                <a:latin typeface="Calibri" pitchFamily="34" charset="0"/>
                <a:ea typeface="Calibri" pitchFamily="34" charset="-122"/>
                <a:cs typeface="Calibri" pitchFamily="34" charset="-120"/>
              </a:rPr>
              <a:t>Dual-core or better</a:t>
            </a:r>
            <a:endParaRPr lang="en-US" sz="1150" dirty="0"/>
          </a:p>
        </p:txBody>
      </p:sp>
      <p:pic>
        <p:nvPicPr>
          <p:cNvPr id="32" name="Image 8" descr="/home/claude/proj/icons/ram.png"/>
          <p:cNvPicPr>
            <a:picLocks noChangeAspect="1"/>
          </p:cNvPicPr>
          <p:nvPr/>
        </p:nvPicPr>
        <p:blipFill>
          <a:blip r:embed="rId8"/>
          <a:stretch>
            <a:fillRect/>
          </a:stretch>
        </p:blipFill>
        <p:spPr>
          <a:xfrm>
            <a:off x="6748272" y="3227832"/>
            <a:ext cx="365760" cy="365760"/>
          </a:xfrm>
          <a:prstGeom prst="rect">
            <a:avLst/>
          </a:prstGeom>
        </p:spPr>
      </p:pic>
      <p:sp>
        <p:nvSpPr>
          <p:cNvPr id="33" name="Text 22"/>
          <p:cNvSpPr/>
          <p:nvPr/>
        </p:nvSpPr>
        <p:spPr>
          <a:xfrm>
            <a:off x="7296912" y="3172968"/>
            <a:ext cx="4069080" cy="27432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RAM</a:t>
            </a:r>
            <a:endParaRPr lang="en-US" sz="1350" dirty="0"/>
          </a:p>
        </p:txBody>
      </p:sp>
      <p:sp>
        <p:nvSpPr>
          <p:cNvPr id="34" name="Text 23"/>
          <p:cNvSpPr/>
          <p:nvPr/>
        </p:nvSpPr>
        <p:spPr>
          <a:xfrm>
            <a:off x="7296912" y="3447288"/>
            <a:ext cx="4069080" cy="274320"/>
          </a:xfrm>
          <a:prstGeom prst="rect">
            <a:avLst/>
          </a:prstGeom>
          <a:noFill/>
          <a:ln/>
        </p:spPr>
        <p:txBody>
          <a:bodyPr wrap="square" rtlCol="0" anchor="ctr"/>
          <a:lstStyle/>
          <a:p>
            <a:pPr marL="0" indent="0">
              <a:buNone/>
            </a:pPr>
            <a:r>
              <a:rPr lang="en-US" sz="1150" dirty="0">
                <a:solidFill>
                  <a:srgbClr val="5A6B87"/>
                </a:solidFill>
                <a:latin typeface="Calibri" pitchFamily="34" charset="0"/>
                <a:ea typeface="Calibri" pitchFamily="34" charset="-122"/>
                <a:cs typeface="Calibri" pitchFamily="34" charset="-120"/>
              </a:rPr>
              <a:t>4 GB minimum</a:t>
            </a:r>
            <a:endParaRPr lang="en-US" sz="1150" dirty="0"/>
          </a:p>
        </p:txBody>
      </p:sp>
      <p:pic>
        <p:nvPicPr>
          <p:cNvPr id="35" name="Image 9" descr="/home/claude/proj/icons/storage.png"/>
          <p:cNvPicPr>
            <a:picLocks noChangeAspect="1"/>
          </p:cNvPicPr>
          <p:nvPr/>
        </p:nvPicPr>
        <p:blipFill>
          <a:blip r:embed="rId9"/>
          <a:stretch>
            <a:fillRect/>
          </a:stretch>
        </p:blipFill>
        <p:spPr>
          <a:xfrm>
            <a:off x="6748272" y="3849624"/>
            <a:ext cx="365760" cy="365760"/>
          </a:xfrm>
          <a:prstGeom prst="rect">
            <a:avLst/>
          </a:prstGeom>
        </p:spPr>
      </p:pic>
      <p:sp>
        <p:nvSpPr>
          <p:cNvPr id="36" name="Text 24"/>
          <p:cNvSpPr/>
          <p:nvPr/>
        </p:nvSpPr>
        <p:spPr>
          <a:xfrm>
            <a:off x="7296912" y="3794760"/>
            <a:ext cx="4069080" cy="27432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Storage</a:t>
            </a:r>
            <a:endParaRPr lang="en-US" sz="1350" dirty="0"/>
          </a:p>
        </p:txBody>
      </p:sp>
      <p:sp>
        <p:nvSpPr>
          <p:cNvPr id="37" name="Text 25"/>
          <p:cNvSpPr/>
          <p:nvPr/>
        </p:nvSpPr>
        <p:spPr>
          <a:xfrm>
            <a:off x="7296912" y="4069080"/>
            <a:ext cx="4069080" cy="274320"/>
          </a:xfrm>
          <a:prstGeom prst="rect">
            <a:avLst/>
          </a:prstGeom>
          <a:noFill/>
          <a:ln/>
        </p:spPr>
        <p:txBody>
          <a:bodyPr wrap="square" rtlCol="0" anchor="ctr"/>
          <a:lstStyle/>
          <a:p>
            <a:pPr marL="0" indent="0">
              <a:buNone/>
            </a:pPr>
            <a:r>
              <a:rPr lang="en-US" sz="1150" dirty="0">
                <a:solidFill>
                  <a:srgbClr val="5A6B87"/>
                </a:solidFill>
                <a:latin typeface="Calibri" pitchFamily="34" charset="0"/>
                <a:ea typeface="Calibri" pitchFamily="34" charset="-122"/>
                <a:cs typeface="Calibri" pitchFamily="34" charset="-120"/>
              </a:rPr>
              <a:t>1 GB free space or more</a:t>
            </a:r>
            <a:endParaRPr lang="en-US" sz="1150" dirty="0"/>
          </a:p>
        </p:txBody>
      </p:sp>
      <p:pic>
        <p:nvPicPr>
          <p:cNvPr id="38" name="Image 10" descr="/home/claude/proj/icons/monitor.png"/>
          <p:cNvPicPr>
            <a:picLocks noChangeAspect="1"/>
          </p:cNvPicPr>
          <p:nvPr/>
        </p:nvPicPr>
        <p:blipFill>
          <a:blip r:embed="rId5"/>
          <a:stretch>
            <a:fillRect/>
          </a:stretch>
        </p:blipFill>
        <p:spPr>
          <a:xfrm>
            <a:off x="6748272" y="4471416"/>
            <a:ext cx="365760" cy="365760"/>
          </a:xfrm>
          <a:prstGeom prst="rect">
            <a:avLst/>
          </a:prstGeom>
        </p:spPr>
      </p:pic>
      <p:sp>
        <p:nvSpPr>
          <p:cNvPr id="39" name="Text 26"/>
          <p:cNvSpPr/>
          <p:nvPr/>
        </p:nvSpPr>
        <p:spPr>
          <a:xfrm>
            <a:off x="7296912" y="4416552"/>
            <a:ext cx="4069080" cy="27432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Display</a:t>
            </a:r>
            <a:endParaRPr lang="en-US" sz="1350" dirty="0"/>
          </a:p>
        </p:txBody>
      </p:sp>
      <p:sp>
        <p:nvSpPr>
          <p:cNvPr id="40" name="Text 27"/>
          <p:cNvSpPr/>
          <p:nvPr/>
        </p:nvSpPr>
        <p:spPr>
          <a:xfrm>
            <a:off x="7296912" y="4690872"/>
            <a:ext cx="4069080" cy="274320"/>
          </a:xfrm>
          <a:prstGeom prst="rect">
            <a:avLst/>
          </a:prstGeom>
          <a:noFill/>
          <a:ln/>
        </p:spPr>
        <p:txBody>
          <a:bodyPr wrap="square" rtlCol="0" anchor="ctr"/>
          <a:lstStyle/>
          <a:p>
            <a:pPr marL="0" indent="0">
              <a:buNone/>
            </a:pPr>
            <a:r>
              <a:rPr lang="en-US" sz="1150" dirty="0">
                <a:solidFill>
                  <a:srgbClr val="5A6B87"/>
                </a:solidFill>
                <a:latin typeface="Calibri" pitchFamily="34" charset="0"/>
                <a:ea typeface="Calibri" pitchFamily="34" charset="-122"/>
                <a:cs typeface="Calibri" pitchFamily="34" charset="-120"/>
              </a:rPr>
              <a:t>Standard monitor / laptop screen</a:t>
            </a:r>
            <a:endParaRPr lang="en-US" sz="1150" dirty="0"/>
          </a:p>
        </p:txBody>
      </p:sp>
      <p:pic>
        <p:nvPicPr>
          <p:cNvPr id="41" name="Image 11" descr="/home/claude/proj/icons/keyboard.png"/>
          <p:cNvPicPr>
            <a:picLocks noChangeAspect="1"/>
          </p:cNvPicPr>
          <p:nvPr/>
        </p:nvPicPr>
        <p:blipFill>
          <a:blip r:embed="rId10"/>
          <a:stretch>
            <a:fillRect/>
          </a:stretch>
        </p:blipFill>
        <p:spPr>
          <a:xfrm>
            <a:off x="6748272" y="5093208"/>
            <a:ext cx="365760" cy="365760"/>
          </a:xfrm>
          <a:prstGeom prst="rect">
            <a:avLst/>
          </a:prstGeom>
        </p:spPr>
      </p:pic>
      <p:sp>
        <p:nvSpPr>
          <p:cNvPr id="42" name="Text 28"/>
          <p:cNvSpPr/>
          <p:nvPr/>
        </p:nvSpPr>
        <p:spPr>
          <a:xfrm>
            <a:off x="7296912" y="5038344"/>
            <a:ext cx="4069080" cy="27432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Input Devices</a:t>
            </a:r>
            <a:endParaRPr lang="en-US" sz="1350" dirty="0"/>
          </a:p>
        </p:txBody>
      </p:sp>
      <p:sp>
        <p:nvSpPr>
          <p:cNvPr id="43" name="Text 29"/>
          <p:cNvSpPr/>
          <p:nvPr/>
        </p:nvSpPr>
        <p:spPr>
          <a:xfrm>
            <a:off x="7296912" y="5312664"/>
            <a:ext cx="4069080" cy="274320"/>
          </a:xfrm>
          <a:prstGeom prst="rect">
            <a:avLst/>
          </a:prstGeom>
          <a:noFill/>
          <a:ln/>
        </p:spPr>
        <p:txBody>
          <a:bodyPr wrap="square" rtlCol="0" anchor="ctr"/>
          <a:lstStyle/>
          <a:p>
            <a:pPr marL="0" indent="0">
              <a:buNone/>
            </a:pPr>
            <a:r>
              <a:rPr lang="en-US" sz="1150" dirty="0">
                <a:solidFill>
                  <a:srgbClr val="5A6B87"/>
                </a:solidFill>
                <a:latin typeface="Calibri" pitchFamily="34" charset="0"/>
                <a:ea typeface="Calibri" pitchFamily="34" charset="-122"/>
                <a:cs typeface="Calibri" pitchFamily="34" charset="-120"/>
              </a:rPr>
              <a:t>Keyboard and mouse</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CADCFC"/>
          </a:solidFill>
          <a:ln/>
        </p:spPr>
      </p:sp>
      <p:pic>
        <p:nvPicPr>
          <p:cNvPr id="3" name="Image 0" descr="/home/claude/proj/icons/book.png"/>
          <p:cNvPicPr>
            <a:picLocks noChangeAspect="1"/>
          </p:cNvPicPr>
          <p:nvPr/>
        </p:nvPicPr>
        <p:blipFill>
          <a:blip r:embed="rId3"/>
          <a:stretch>
            <a:fillRect/>
          </a:stretch>
        </p:blipFill>
        <p:spPr>
          <a:xfrm>
            <a:off x="630479" y="584759"/>
            <a:ext cx="311810" cy="311810"/>
          </a:xfrm>
          <a:prstGeom prst="rect">
            <a:avLst/>
          </a:prstGeom>
        </p:spPr>
      </p:pic>
      <p:sp>
        <p:nvSpPr>
          <p:cNvPr id="4" name="Text 1"/>
          <p:cNvSpPr/>
          <p:nvPr/>
        </p:nvSpPr>
        <p:spPr>
          <a:xfrm>
            <a:off x="1234440" y="402336"/>
            <a:ext cx="7315200" cy="274320"/>
          </a:xfrm>
          <a:prstGeom prst="rect">
            <a:avLst/>
          </a:prstGeom>
          <a:noFill/>
          <a:ln/>
        </p:spPr>
        <p:txBody>
          <a:bodyPr wrap="square" rtlCol="0" anchor="ctr"/>
          <a:lstStyle/>
          <a:p>
            <a:pPr marL="0" indent="0">
              <a:buNone/>
            </a:pPr>
            <a:r>
              <a:rPr lang="en-US" sz="1200" b="1" kern="0" spc="200" dirty="0">
                <a:solidFill>
                  <a:srgbClr val="5A6B87"/>
                </a:solidFill>
                <a:latin typeface="Calibri" pitchFamily="34" charset="0"/>
                <a:ea typeface="Calibri" pitchFamily="34" charset="-122"/>
                <a:cs typeface="Calibri" pitchFamily="34" charset="-120"/>
              </a:rPr>
              <a:t>EXISTING APPROACHES</a:t>
            </a:r>
            <a:endParaRPr lang="en-US" sz="1200" dirty="0"/>
          </a:p>
        </p:txBody>
      </p:sp>
      <p:sp>
        <p:nvSpPr>
          <p:cNvPr id="5" name="Text 2"/>
          <p:cNvSpPr/>
          <p:nvPr/>
        </p:nvSpPr>
        <p:spPr>
          <a:xfrm>
            <a:off x="1234440" y="640080"/>
            <a:ext cx="9601200" cy="50292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Literature Survey</a:t>
            </a:r>
            <a:endParaRPr lang="en-US" sz="3000" dirty="0"/>
          </a:p>
        </p:txBody>
      </p:sp>
      <p:sp>
        <p:nvSpPr>
          <p:cNvPr id="6" name="Shape 3"/>
          <p:cNvSpPr/>
          <p:nvPr/>
        </p:nvSpPr>
        <p:spPr>
          <a:xfrm>
            <a:off x="502920" y="1298448"/>
            <a:ext cx="11183112" cy="0"/>
          </a:xfrm>
          <a:prstGeom prst="line">
            <a:avLst/>
          </a:prstGeom>
          <a:noFill/>
          <a:ln w="15875">
            <a:solidFill>
              <a:srgbClr val="E3E8F2"/>
            </a:solidFill>
            <a:prstDash val="solid"/>
          </a:ln>
        </p:spPr>
      </p:sp>
      <p:sp>
        <p:nvSpPr>
          <p:cNvPr id="7" name="Text 4"/>
          <p:cNvSpPr/>
          <p:nvPr/>
        </p:nvSpPr>
        <p:spPr>
          <a:xfrm>
            <a:off x="502920" y="6528816"/>
            <a:ext cx="7315200" cy="274320"/>
          </a:xfrm>
          <a:prstGeom prst="rect">
            <a:avLst/>
          </a:prstGeom>
          <a:noFill/>
          <a:ln/>
        </p:spPr>
        <p:txBody>
          <a:bodyPr wrap="square" rtlCol="0" anchor="ctr"/>
          <a:lstStyle/>
          <a:p>
            <a:pPr marL="0" indent="0">
              <a:buNone/>
            </a:pPr>
            <a:r>
              <a:rPr lang="en-US" sz="900" dirty="0">
                <a:solidFill>
                  <a:srgbClr val="5A6B87"/>
                </a:solidFill>
                <a:latin typeface="Calibri" pitchFamily="34" charset="0"/>
                <a:ea typeface="Calibri" pitchFamily="34" charset="-122"/>
                <a:cs typeface="Calibri" pitchFamily="34" charset="-120"/>
              </a:rPr>
              <a:t>Mini Search Engine  |  AVL Tree &amp; B-Tree Indexing</a:t>
            </a:r>
            <a:endParaRPr lang="en-US" sz="900" dirty="0"/>
          </a:p>
        </p:txBody>
      </p:sp>
      <p:sp>
        <p:nvSpPr>
          <p:cNvPr id="8" name="Text 5"/>
          <p:cNvSpPr/>
          <p:nvPr/>
        </p:nvSpPr>
        <p:spPr>
          <a:xfrm>
            <a:off x="11521440" y="6528816"/>
            <a:ext cx="365760" cy="274320"/>
          </a:xfrm>
          <a:prstGeom prst="rect">
            <a:avLst/>
          </a:prstGeom>
          <a:noFill/>
          <a:ln/>
        </p:spPr>
        <p:txBody>
          <a:bodyPr wrap="square" rtlCol="0" anchor="ctr"/>
          <a:lstStyle/>
          <a:p>
            <a:pPr marL="0" indent="0" algn="r">
              <a:buNone/>
            </a:pPr>
            <a:r>
              <a:rPr lang="en-US" sz="900" dirty="0">
                <a:solidFill>
                  <a:srgbClr val="5A6B87"/>
                </a:solidFill>
                <a:latin typeface="Calibri" pitchFamily="34" charset="0"/>
                <a:ea typeface="Calibri" pitchFamily="34" charset="-122"/>
                <a:cs typeface="Calibri" pitchFamily="34" charset="-120"/>
              </a:rPr>
              <a:t>5</a:t>
            </a:r>
            <a:endParaRPr lang="en-US" sz="900" dirty="0"/>
          </a:p>
        </p:txBody>
      </p:sp>
      <p:sp>
        <p:nvSpPr>
          <p:cNvPr id="9" name="Text 6"/>
          <p:cNvSpPr/>
          <p:nvPr/>
        </p:nvSpPr>
        <p:spPr>
          <a:xfrm>
            <a:off x="502920" y="1481328"/>
            <a:ext cx="11155680" cy="502920"/>
          </a:xfrm>
          <a:prstGeom prst="rect">
            <a:avLst/>
          </a:prstGeom>
          <a:noFill/>
          <a:ln/>
        </p:spPr>
        <p:txBody>
          <a:bodyPr wrap="square" rtlCol="0" anchor="ctr"/>
          <a:lstStyle/>
          <a:p>
            <a:pPr marL="0" indent="0">
              <a:lnSpc>
                <a:spcPct val="115000"/>
              </a:lnSpc>
              <a:buNone/>
            </a:pPr>
            <a:r>
              <a:rPr lang="en-US" sz="1300" dirty="0">
                <a:solidFill>
                  <a:srgbClr val="2A3350"/>
                </a:solidFill>
                <a:latin typeface="Calibri" pitchFamily="34" charset="0"/>
                <a:ea typeface="Calibri" pitchFamily="34" charset="-122"/>
                <a:cs typeface="Calibri" pitchFamily="34" charset="-120"/>
              </a:rPr>
              <a:t>Before designing the Mini Search Engine, existing file-search approaches and their underlying data structures were reviewed — from basic linear scanning to self-balancing trees used in real indexing systems.</a:t>
            </a:r>
            <a:endParaRPr lang="en-US" sz="1300" dirty="0"/>
          </a:p>
        </p:txBody>
      </p:sp>
      <p:sp>
        <p:nvSpPr>
          <p:cNvPr id="10" name="Shape 7"/>
          <p:cNvSpPr/>
          <p:nvPr/>
        </p:nvSpPr>
        <p:spPr>
          <a:xfrm>
            <a:off x="502920" y="2148840"/>
            <a:ext cx="3291840" cy="502920"/>
          </a:xfrm>
          <a:prstGeom prst="rect">
            <a:avLst/>
          </a:prstGeom>
          <a:solidFill>
            <a:srgbClr val="1E2761"/>
          </a:solidFill>
          <a:ln w="9525">
            <a:solidFill>
              <a:srgbClr val="FFFFFF"/>
            </a:solidFill>
            <a:prstDash val="solid"/>
          </a:ln>
        </p:spPr>
      </p:sp>
      <p:sp>
        <p:nvSpPr>
          <p:cNvPr id="11" name="Text 8"/>
          <p:cNvSpPr/>
          <p:nvPr/>
        </p:nvSpPr>
        <p:spPr>
          <a:xfrm>
            <a:off x="612648" y="2148840"/>
            <a:ext cx="3108960" cy="50292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Approach</a:t>
            </a:r>
            <a:endParaRPr lang="en-US" sz="1200" dirty="0"/>
          </a:p>
        </p:txBody>
      </p:sp>
      <p:sp>
        <p:nvSpPr>
          <p:cNvPr id="12" name="Shape 9"/>
          <p:cNvSpPr/>
          <p:nvPr/>
        </p:nvSpPr>
        <p:spPr>
          <a:xfrm>
            <a:off x="3794760" y="2148840"/>
            <a:ext cx="2377440" cy="502920"/>
          </a:xfrm>
          <a:prstGeom prst="rect">
            <a:avLst/>
          </a:prstGeom>
          <a:solidFill>
            <a:srgbClr val="1E2761"/>
          </a:solidFill>
          <a:ln w="9525">
            <a:solidFill>
              <a:srgbClr val="FFFFFF"/>
            </a:solidFill>
            <a:prstDash val="solid"/>
          </a:ln>
        </p:spPr>
      </p:sp>
      <p:sp>
        <p:nvSpPr>
          <p:cNvPr id="13" name="Text 10"/>
          <p:cNvSpPr/>
          <p:nvPr/>
        </p:nvSpPr>
        <p:spPr>
          <a:xfrm>
            <a:off x="3904488" y="2148840"/>
            <a:ext cx="2194560" cy="50292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Search Time</a:t>
            </a:r>
            <a:endParaRPr lang="en-US" sz="1200" dirty="0"/>
          </a:p>
        </p:txBody>
      </p:sp>
      <p:sp>
        <p:nvSpPr>
          <p:cNvPr id="14" name="Shape 11"/>
          <p:cNvSpPr/>
          <p:nvPr/>
        </p:nvSpPr>
        <p:spPr>
          <a:xfrm>
            <a:off x="6172200" y="2148840"/>
            <a:ext cx="2468880" cy="502920"/>
          </a:xfrm>
          <a:prstGeom prst="rect">
            <a:avLst/>
          </a:prstGeom>
          <a:solidFill>
            <a:srgbClr val="1E2761"/>
          </a:solidFill>
          <a:ln w="9525">
            <a:solidFill>
              <a:srgbClr val="FFFFFF"/>
            </a:solidFill>
            <a:prstDash val="solid"/>
          </a:ln>
        </p:spPr>
      </p:sp>
      <p:sp>
        <p:nvSpPr>
          <p:cNvPr id="15" name="Text 12"/>
          <p:cNvSpPr/>
          <p:nvPr/>
        </p:nvSpPr>
        <p:spPr>
          <a:xfrm>
            <a:off x="6281928" y="2148840"/>
            <a:ext cx="2286000" cy="50292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Structure</a:t>
            </a:r>
            <a:endParaRPr lang="en-US" sz="1200" dirty="0"/>
          </a:p>
        </p:txBody>
      </p:sp>
      <p:sp>
        <p:nvSpPr>
          <p:cNvPr id="16" name="Shape 13"/>
          <p:cNvSpPr/>
          <p:nvPr/>
        </p:nvSpPr>
        <p:spPr>
          <a:xfrm>
            <a:off x="8641080" y="2148840"/>
            <a:ext cx="3017520" cy="502920"/>
          </a:xfrm>
          <a:prstGeom prst="rect">
            <a:avLst/>
          </a:prstGeom>
          <a:solidFill>
            <a:srgbClr val="1E2761"/>
          </a:solidFill>
          <a:ln w="9525">
            <a:solidFill>
              <a:srgbClr val="FFFFFF"/>
            </a:solidFill>
            <a:prstDash val="solid"/>
          </a:ln>
        </p:spPr>
      </p:sp>
      <p:sp>
        <p:nvSpPr>
          <p:cNvPr id="17" name="Text 14"/>
          <p:cNvSpPr/>
          <p:nvPr/>
        </p:nvSpPr>
        <p:spPr>
          <a:xfrm>
            <a:off x="8750808" y="2148840"/>
            <a:ext cx="2834640" cy="50292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Key Limitation / Note</a:t>
            </a:r>
            <a:endParaRPr lang="en-US" sz="1200" dirty="0"/>
          </a:p>
        </p:txBody>
      </p:sp>
      <p:sp>
        <p:nvSpPr>
          <p:cNvPr id="18" name="Shape 15"/>
          <p:cNvSpPr/>
          <p:nvPr/>
        </p:nvSpPr>
        <p:spPr>
          <a:xfrm>
            <a:off x="502920" y="2651760"/>
            <a:ext cx="3291840" cy="566928"/>
          </a:xfrm>
          <a:prstGeom prst="rect">
            <a:avLst/>
          </a:prstGeom>
          <a:solidFill>
            <a:srgbClr val="FFFFFF"/>
          </a:solidFill>
          <a:ln w="9525">
            <a:solidFill>
              <a:srgbClr val="E3E8F2"/>
            </a:solidFill>
            <a:prstDash val="solid"/>
          </a:ln>
        </p:spPr>
      </p:sp>
      <p:sp>
        <p:nvSpPr>
          <p:cNvPr id="19" name="Text 16"/>
          <p:cNvSpPr/>
          <p:nvPr/>
        </p:nvSpPr>
        <p:spPr>
          <a:xfrm>
            <a:off x="612648" y="2651760"/>
            <a:ext cx="3090672" cy="566928"/>
          </a:xfrm>
          <a:prstGeom prst="rect">
            <a:avLst/>
          </a:prstGeom>
          <a:noFill/>
          <a:ln/>
        </p:spPr>
        <p:txBody>
          <a:bodyPr wrap="square"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Linear / Sequential Search</a:t>
            </a:r>
            <a:endParaRPr lang="en-US" sz="1100" dirty="0"/>
          </a:p>
        </p:txBody>
      </p:sp>
      <p:sp>
        <p:nvSpPr>
          <p:cNvPr id="20" name="Shape 17"/>
          <p:cNvSpPr/>
          <p:nvPr/>
        </p:nvSpPr>
        <p:spPr>
          <a:xfrm>
            <a:off x="3794760" y="2651760"/>
            <a:ext cx="2377440" cy="566928"/>
          </a:xfrm>
          <a:prstGeom prst="rect">
            <a:avLst/>
          </a:prstGeom>
          <a:solidFill>
            <a:srgbClr val="FFFFFF"/>
          </a:solidFill>
          <a:ln w="9525">
            <a:solidFill>
              <a:srgbClr val="E3E8F2"/>
            </a:solidFill>
            <a:prstDash val="solid"/>
          </a:ln>
        </p:spPr>
      </p:sp>
      <p:sp>
        <p:nvSpPr>
          <p:cNvPr id="21" name="Text 18"/>
          <p:cNvSpPr/>
          <p:nvPr/>
        </p:nvSpPr>
        <p:spPr>
          <a:xfrm>
            <a:off x="3904488" y="2651760"/>
            <a:ext cx="2176272" cy="566928"/>
          </a:xfrm>
          <a:prstGeom prst="rect">
            <a:avLst/>
          </a:prstGeom>
          <a:noFill/>
          <a:ln/>
        </p:spPr>
        <p:txBody>
          <a:bodyPr wrap="square" rtlCol="0" anchor="ctr"/>
          <a:lstStyle/>
          <a:p>
            <a:pPr marL="0" indent="0">
              <a:buNone/>
            </a:pPr>
            <a:r>
              <a:rPr lang="en-US" sz="1100" dirty="0">
                <a:solidFill>
                  <a:srgbClr val="2A3350"/>
                </a:solidFill>
                <a:latin typeface="Calibri" pitchFamily="34" charset="0"/>
                <a:ea typeface="Calibri" pitchFamily="34" charset="-122"/>
                <a:cs typeface="Calibri" pitchFamily="34" charset="-120"/>
              </a:rPr>
              <a:t>O(n)</a:t>
            </a:r>
            <a:endParaRPr lang="en-US" sz="1100" dirty="0"/>
          </a:p>
        </p:txBody>
      </p:sp>
      <p:sp>
        <p:nvSpPr>
          <p:cNvPr id="22" name="Shape 19"/>
          <p:cNvSpPr/>
          <p:nvPr/>
        </p:nvSpPr>
        <p:spPr>
          <a:xfrm>
            <a:off x="6172200" y="2651760"/>
            <a:ext cx="2468880" cy="566928"/>
          </a:xfrm>
          <a:prstGeom prst="rect">
            <a:avLst/>
          </a:prstGeom>
          <a:solidFill>
            <a:srgbClr val="FFFFFF"/>
          </a:solidFill>
          <a:ln w="9525">
            <a:solidFill>
              <a:srgbClr val="E3E8F2"/>
            </a:solidFill>
            <a:prstDash val="solid"/>
          </a:ln>
        </p:spPr>
      </p:sp>
      <p:sp>
        <p:nvSpPr>
          <p:cNvPr id="23" name="Text 20"/>
          <p:cNvSpPr/>
          <p:nvPr/>
        </p:nvSpPr>
        <p:spPr>
          <a:xfrm>
            <a:off x="6281928" y="2651760"/>
            <a:ext cx="2267712" cy="566928"/>
          </a:xfrm>
          <a:prstGeom prst="rect">
            <a:avLst/>
          </a:prstGeom>
          <a:noFill/>
          <a:ln/>
        </p:spPr>
        <p:txBody>
          <a:bodyPr wrap="square" rtlCol="0" anchor="ctr"/>
          <a:lstStyle/>
          <a:p>
            <a:pPr marL="0" indent="0">
              <a:buNone/>
            </a:pPr>
            <a:r>
              <a:rPr lang="en-US" sz="1100" dirty="0">
                <a:solidFill>
                  <a:srgbClr val="2A3350"/>
                </a:solidFill>
                <a:latin typeface="Calibri" pitchFamily="34" charset="0"/>
                <a:ea typeface="Calibri" pitchFamily="34" charset="-122"/>
                <a:cs typeface="Calibri" pitchFamily="34" charset="-120"/>
              </a:rPr>
              <a:t>None (raw list)</a:t>
            </a:r>
            <a:endParaRPr lang="en-US" sz="1100" dirty="0"/>
          </a:p>
        </p:txBody>
      </p:sp>
      <p:sp>
        <p:nvSpPr>
          <p:cNvPr id="24" name="Shape 21"/>
          <p:cNvSpPr/>
          <p:nvPr/>
        </p:nvSpPr>
        <p:spPr>
          <a:xfrm>
            <a:off x="8641080" y="2651760"/>
            <a:ext cx="3017520" cy="566928"/>
          </a:xfrm>
          <a:prstGeom prst="rect">
            <a:avLst/>
          </a:prstGeom>
          <a:solidFill>
            <a:srgbClr val="FFFFFF"/>
          </a:solidFill>
          <a:ln w="9525">
            <a:solidFill>
              <a:srgbClr val="E3E8F2"/>
            </a:solidFill>
            <a:prstDash val="solid"/>
          </a:ln>
        </p:spPr>
      </p:sp>
      <p:sp>
        <p:nvSpPr>
          <p:cNvPr id="25" name="Text 22"/>
          <p:cNvSpPr/>
          <p:nvPr/>
        </p:nvSpPr>
        <p:spPr>
          <a:xfrm>
            <a:off x="8750808" y="2651760"/>
            <a:ext cx="2816352" cy="566928"/>
          </a:xfrm>
          <a:prstGeom prst="rect">
            <a:avLst/>
          </a:prstGeom>
          <a:noFill/>
          <a:ln/>
        </p:spPr>
        <p:txBody>
          <a:bodyPr wrap="square" rtlCol="0" anchor="ctr"/>
          <a:lstStyle/>
          <a:p>
            <a:pPr marL="0" indent="0">
              <a:buNone/>
            </a:pPr>
            <a:r>
              <a:rPr lang="en-US" sz="1100" dirty="0">
                <a:solidFill>
                  <a:srgbClr val="2A3350"/>
                </a:solidFill>
                <a:latin typeface="Calibri" pitchFamily="34" charset="0"/>
                <a:ea typeface="Calibri" pitchFamily="34" charset="-122"/>
                <a:cs typeface="Calibri" pitchFamily="34" charset="-120"/>
              </a:rPr>
              <a:t>Every file checked one by one; slow for large collections</a:t>
            </a:r>
            <a:endParaRPr lang="en-US" sz="1100" dirty="0"/>
          </a:p>
        </p:txBody>
      </p:sp>
      <p:sp>
        <p:nvSpPr>
          <p:cNvPr id="26" name="Shape 23"/>
          <p:cNvSpPr/>
          <p:nvPr/>
        </p:nvSpPr>
        <p:spPr>
          <a:xfrm>
            <a:off x="502920" y="3218688"/>
            <a:ext cx="3291840" cy="566928"/>
          </a:xfrm>
          <a:prstGeom prst="rect">
            <a:avLst/>
          </a:prstGeom>
          <a:solidFill>
            <a:srgbClr val="F3F6FC"/>
          </a:solidFill>
          <a:ln w="9525">
            <a:solidFill>
              <a:srgbClr val="E3E8F2"/>
            </a:solidFill>
            <a:prstDash val="solid"/>
          </a:ln>
        </p:spPr>
      </p:sp>
      <p:sp>
        <p:nvSpPr>
          <p:cNvPr id="27" name="Text 24"/>
          <p:cNvSpPr/>
          <p:nvPr/>
        </p:nvSpPr>
        <p:spPr>
          <a:xfrm>
            <a:off x="612648" y="3218688"/>
            <a:ext cx="3090672" cy="566928"/>
          </a:xfrm>
          <a:prstGeom prst="rect">
            <a:avLst/>
          </a:prstGeom>
          <a:noFill/>
          <a:ln/>
        </p:spPr>
        <p:txBody>
          <a:bodyPr wrap="square"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Binary Search Tree (BST)</a:t>
            </a:r>
            <a:endParaRPr lang="en-US" sz="1100" dirty="0"/>
          </a:p>
        </p:txBody>
      </p:sp>
      <p:sp>
        <p:nvSpPr>
          <p:cNvPr id="28" name="Shape 25"/>
          <p:cNvSpPr/>
          <p:nvPr/>
        </p:nvSpPr>
        <p:spPr>
          <a:xfrm>
            <a:off x="3794760" y="3218688"/>
            <a:ext cx="2377440" cy="566928"/>
          </a:xfrm>
          <a:prstGeom prst="rect">
            <a:avLst/>
          </a:prstGeom>
          <a:solidFill>
            <a:srgbClr val="F3F6FC"/>
          </a:solidFill>
          <a:ln w="9525">
            <a:solidFill>
              <a:srgbClr val="E3E8F2"/>
            </a:solidFill>
            <a:prstDash val="solid"/>
          </a:ln>
        </p:spPr>
      </p:sp>
      <p:sp>
        <p:nvSpPr>
          <p:cNvPr id="29" name="Text 26"/>
          <p:cNvSpPr/>
          <p:nvPr/>
        </p:nvSpPr>
        <p:spPr>
          <a:xfrm>
            <a:off x="3904488" y="3218688"/>
            <a:ext cx="2176272" cy="566928"/>
          </a:xfrm>
          <a:prstGeom prst="rect">
            <a:avLst/>
          </a:prstGeom>
          <a:noFill/>
          <a:ln/>
        </p:spPr>
        <p:txBody>
          <a:bodyPr wrap="square" rtlCol="0" anchor="ctr"/>
          <a:lstStyle/>
          <a:p>
            <a:pPr marL="0" indent="0">
              <a:buNone/>
            </a:pPr>
            <a:r>
              <a:rPr lang="en-US" sz="1100" dirty="0">
                <a:solidFill>
                  <a:srgbClr val="2A3350"/>
                </a:solidFill>
                <a:latin typeface="Calibri" pitchFamily="34" charset="0"/>
                <a:ea typeface="Calibri" pitchFamily="34" charset="-122"/>
                <a:cs typeface="Calibri" pitchFamily="34" charset="-120"/>
              </a:rPr>
              <a:t>O(log n) avg, O(n) worst</a:t>
            </a:r>
            <a:endParaRPr lang="en-US" sz="1100" dirty="0"/>
          </a:p>
        </p:txBody>
      </p:sp>
      <p:sp>
        <p:nvSpPr>
          <p:cNvPr id="30" name="Shape 27"/>
          <p:cNvSpPr/>
          <p:nvPr/>
        </p:nvSpPr>
        <p:spPr>
          <a:xfrm>
            <a:off x="6172200" y="3218688"/>
            <a:ext cx="2468880" cy="566928"/>
          </a:xfrm>
          <a:prstGeom prst="rect">
            <a:avLst/>
          </a:prstGeom>
          <a:solidFill>
            <a:srgbClr val="F3F6FC"/>
          </a:solidFill>
          <a:ln w="9525">
            <a:solidFill>
              <a:srgbClr val="E3E8F2"/>
            </a:solidFill>
            <a:prstDash val="solid"/>
          </a:ln>
        </p:spPr>
      </p:sp>
      <p:sp>
        <p:nvSpPr>
          <p:cNvPr id="31" name="Text 28"/>
          <p:cNvSpPr/>
          <p:nvPr/>
        </p:nvSpPr>
        <p:spPr>
          <a:xfrm>
            <a:off x="6281928" y="3218688"/>
            <a:ext cx="2267712" cy="566928"/>
          </a:xfrm>
          <a:prstGeom prst="rect">
            <a:avLst/>
          </a:prstGeom>
          <a:noFill/>
          <a:ln/>
        </p:spPr>
        <p:txBody>
          <a:bodyPr wrap="square" rtlCol="0" anchor="ctr"/>
          <a:lstStyle/>
          <a:p>
            <a:pPr marL="0" indent="0">
              <a:buNone/>
            </a:pPr>
            <a:r>
              <a:rPr lang="en-US" sz="1100" dirty="0">
                <a:solidFill>
                  <a:srgbClr val="2A3350"/>
                </a:solidFill>
                <a:latin typeface="Calibri" pitchFamily="34" charset="0"/>
                <a:ea typeface="Calibri" pitchFamily="34" charset="-122"/>
                <a:cs typeface="Calibri" pitchFamily="34" charset="-120"/>
              </a:rPr>
              <a:t>Simple binary tree</a:t>
            </a:r>
            <a:endParaRPr lang="en-US" sz="1100" dirty="0"/>
          </a:p>
        </p:txBody>
      </p:sp>
      <p:sp>
        <p:nvSpPr>
          <p:cNvPr id="32" name="Shape 29"/>
          <p:cNvSpPr/>
          <p:nvPr/>
        </p:nvSpPr>
        <p:spPr>
          <a:xfrm>
            <a:off x="8641080" y="3218688"/>
            <a:ext cx="3017520" cy="566928"/>
          </a:xfrm>
          <a:prstGeom prst="rect">
            <a:avLst/>
          </a:prstGeom>
          <a:solidFill>
            <a:srgbClr val="F3F6FC"/>
          </a:solidFill>
          <a:ln w="9525">
            <a:solidFill>
              <a:srgbClr val="E3E8F2"/>
            </a:solidFill>
            <a:prstDash val="solid"/>
          </a:ln>
        </p:spPr>
      </p:sp>
      <p:sp>
        <p:nvSpPr>
          <p:cNvPr id="33" name="Text 30"/>
          <p:cNvSpPr/>
          <p:nvPr/>
        </p:nvSpPr>
        <p:spPr>
          <a:xfrm>
            <a:off x="8750808" y="3218688"/>
            <a:ext cx="2816352" cy="566928"/>
          </a:xfrm>
          <a:prstGeom prst="rect">
            <a:avLst/>
          </a:prstGeom>
          <a:noFill/>
          <a:ln/>
        </p:spPr>
        <p:txBody>
          <a:bodyPr wrap="square" rtlCol="0" anchor="ctr"/>
          <a:lstStyle/>
          <a:p>
            <a:pPr marL="0" indent="0">
              <a:buNone/>
            </a:pPr>
            <a:r>
              <a:rPr lang="en-US" sz="1100" dirty="0">
                <a:solidFill>
                  <a:srgbClr val="2A3350"/>
                </a:solidFill>
                <a:latin typeface="Calibri" pitchFamily="34" charset="0"/>
                <a:ea typeface="Calibri" pitchFamily="34" charset="-122"/>
                <a:cs typeface="Calibri" pitchFamily="34" charset="-120"/>
              </a:rPr>
              <a:t>Can degrade into a linked list if data is inserted in sorted order</a:t>
            </a:r>
            <a:endParaRPr lang="en-US" sz="1100" dirty="0"/>
          </a:p>
        </p:txBody>
      </p:sp>
      <p:sp>
        <p:nvSpPr>
          <p:cNvPr id="34" name="Shape 31"/>
          <p:cNvSpPr/>
          <p:nvPr/>
        </p:nvSpPr>
        <p:spPr>
          <a:xfrm>
            <a:off x="502920" y="3785616"/>
            <a:ext cx="3291840" cy="566928"/>
          </a:xfrm>
          <a:prstGeom prst="rect">
            <a:avLst/>
          </a:prstGeom>
          <a:solidFill>
            <a:srgbClr val="FFFFFF"/>
          </a:solidFill>
          <a:ln w="9525">
            <a:solidFill>
              <a:srgbClr val="E3E8F2"/>
            </a:solidFill>
            <a:prstDash val="solid"/>
          </a:ln>
        </p:spPr>
      </p:sp>
      <p:sp>
        <p:nvSpPr>
          <p:cNvPr id="35" name="Text 32"/>
          <p:cNvSpPr/>
          <p:nvPr/>
        </p:nvSpPr>
        <p:spPr>
          <a:xfrm>
            <a:off x="612648" y="3785616"/>
            <a:ext cx="3090672" cy="566928"/>
          </a:xfrm>
          <a:prstGeom prst="rect">
            <a:avLst/>
          </a:prstGeom>
          <a:noFill/>
          <a:ln/>
        </p:spPr>
        <p:txBody>
          <a:bodyPr wrap="square"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AVL Tree</a:t>
            </a:r>
            <a:endParaRPr lang="en-US" sz="1100" dirty="0"/>
          </a:p>
        </p:txBody>
      </p:sp>
      <p:sp>
        <p:nvSpPr>
          <p:cNvPr id="36" name="Shape 33"/>
          <p:cNvSpPr/>
          <p:nvPr/>
        </p:nvSpPr>
        <p:spPr>
          <a:xfrm>
            <a:off x="3794760" y="3785616"/>
            <a:ext cx="2377440" cy="566928"/>
          </a:xfrm>
          <a:prstGeom prst="rect">
            <a:avLst/>
          </a:prstGeom>
          <a:solidFill>
            <a:srgbClr val="FFFFFF"/>
          </a:solidFill>
          <a:ln w="9525">
            <a:solidFill>
              <a:srgbClr val="E3E8F2"/>
            </a:solidFill>
            <a:prstDash val="solid"/>
          </a:ln>
        </p:spPr>
      </p:sp>
      <p:sp>
        <p:nvSpPr>
          <p:cNvPr id="37" name="Text 34"/>
          <p:cNvSpPr/>
          <p:nvPr/>
        </p:nvSpPr>
        <p:spPr>
          <a:xfrm>
            <a:off x="3904488" y="3785616"/>
            <a:ext cx="2176272" cy="566928"/>
          </a:xfrm>
          <a:prstGeom prst="rect">
            <a:avLst/>
          </a:prstGeom>
          <a:noFill/>
          <a:ln/>
        </p:spPr>
        <p:txBody>
          <a:bodyPr wrap="square" rtlCol="0" anchor="ctr"/>
          <a:lstStyle/>
          <a:p>
            <a:pPr marL="0" indent="0">
              <a:buNone/>
            </a:pPr>
            <a:r>
              <a:rPr lang="en-US" sz="1100" dirty="0">
                <a:solidFill>
                  <a:srgbClr val="2A3350"/>
                </a:solidFill>
                <a:latin typeface="Calibri" pitchFamily="34" charset="0"/>
                <a:ea typeface="Calibri" pitchFamily="34" charset="-122"/>
                <a:cs typeface="Calibri" pitchFamily="34" charset="-120"/>
              </a:rPr>
              <a:t>O(log n) guaranteed</a:t>
            </a:r>
            <a:endParaRPr lang="en-US" sz="1100" dirty="0"/>
          </a:p>
        </p:txBody>
      </p:sp>
      <p:sp>
        <p:nvSpPr>
          <p:cNvPr id="38" name="Shape 35"/>
          <p:cNvSpPr/>
          <p:nvPr/>
        </p:nvSpPr>
        <p:spPr>
          <a:xfrm>
            <a:off x="6172200" y="3785616"/>
            <a:ext cx="2468880" cy="566928"/>
          </a:xfrm>
          <a:prstGeom prst="rect">
            <a:avLst/>
          </a:prstGeom>
          <a:solidFill>
            <a:srgbClr val="FFFFFF"/>
          </a:solidFill>
          <a:ln w="9525">
            <a:solidFill>
              <a:srgbClr val="E3E8F2"/>
            </a:solidFill>
            <a:prstDash val="solid"/>
          </a:ln>
        </p:spPr>
      </p:sp>
      <p:sp>
        <p:nvSpPr>
          <p:cNvPr id="39" name="Text 36"/>
          <p:cNvSpPr/>
          <p:nvPr/>
        </p:nvSpPr>
        <p:spPr>
          <a:xfrm>
            <a:off x="6281928" y="3785616"/>
            <a:ext cx="2267712" cy="566928"/>
          </a:xfrm>
          <a:prstGeom prst="rect">
            <a:avLst/>
          </a:prstGeom>
          <a:noFill/>
          <a:ln/>
        </p:spPr>
        <p:txBody>
          <a:bodyPr wrap="square" rtlCol="0" anchor="ctr"/>
          <a:lstStyle/>
          <a:p>
            <a:pPr marL="0" indent="0">
              <a:buNone/>
            </a:pPr>
            <a:r>
              <a:rPr lang="en-US" sz="1100" dirty="0">
                <a:solidFill>
                  <a:srgbClr val="2A3350"/>
                </a:solidFill>
                <a:latin typeface="Calibri" pitchFamily="34" charset="0"/>
                <a:ea typeface="Calibri" pitchFamily="34" charset="-122"/>
                <a:cs typeface="Calibri" pitchFamily="34" charset="-120"/>
              </a:rPr>
              <a:t>Self-balancing BST</a:t>
            </a:r>
            <a:endParaRPr lang="en-US" sz="1100" dirty="0"/>
          </a:p>
        </p:txBody>
      </p:sp>
      <p:sp>
        <p:nvSpPr>
          <p:cNvPr id="40" name="Shape 37"/>
          <p:cNvSpPr/>
          <p:nvPr/>
        </p:nvSpPr>
        <p:spPr>
          <a:xfrm>
            <a:off x="8641080" y="3785616"/>
            <a:ext cx="3017520" cy="566928"/>
          </a:xfrm>
          <a:prstGeom prst="rect">
            <a:avLst/>
          </a:prstGeom>
          <a:solidFill>
            <a:srgbClr val="FFFFFF"/>
          </a:solidFill>
          <a:ln w="9525">
            <a:solidFill>
              <a:srgbClr val="E3E8F2"/>
            </a:solidFill>
            <a:prstDash val="solid"/>
          </a:ln>
        </p:spPr>
      </p:sp>
      <p:sp>
        <p:nvSpPr>
          <p:cNvPr id="41" name="Text 38"/>
          <p:cNvSpPr/>
          <p:nvPr/>
        </p:nvSpPr>
        <p:spPr>
          <a:xfrm>
            <a:off x="8750808" y="3785616"/>
            <a:ext cx="2816352" cy="566928"/>
          </a:xfrm>
          <a:prstGeom prst="rect">
            <a:avLst/>
          </a:prstGeom>
          <a:noFill/>
          <a:ln/>
        </p:spPr>
        <p:txBody>
          <a:bodyPr wrap="square" rtlCol="0" anchor="ctr"/>
          <a:lstStyle/>
          <a:p>
            <a:pPr marL="0" indent="0">
              <a:buNone/>
            </a:pPr>
            <a:r>
              <a:rPr lang="en-US" sz="1100" dirty="0">
                <a:solidFill>
                  <a:srgbClr val="2A3350"/>
                </a:solidFill>
                <a:latin typeface="Calibri" pitchFamily="34" charset="0"/>
                <a:ea typeface="Calibri" pitchFamily="34" charset="-122"/>
                <a:cs typeface="Calibri" pitchFamily="34" charset="-120"/>
              </a:rPr>
              <a:t>Stays balanced via rotations after every insertion</a:t>
            </a:r>
            <a:endParaRPr lang="en-US" sz="1100" dirty="0"/>
          </a:p>
        </p:txBody>
      </p:sp>
      <p:sp>
        <p:nvSpPr>
          <p:cNvPr id="42" name="Shape 39"/>
          <p:cNvSpPr/>
          <p:nvPr/>
        </p:nvSpPr>
        <p:spPr>
          <a:xfrm>
            <a:off x="502920" y="4352544"/>
            <a:ext cx="3291840" cy="566928"/>
          </a:xfrm>
          <a:prstGeom prst="rect">
            <a:avLst/>
          </a:prstGeom>
          <a:solidFill>
            <a:srgbClr val="F3F6FC"/>
          </a:solidFill>
          <a:ln w="9525">
            <a:solidFill>
              <a:srgbClr val="E3E8F2"/>
            </a:solidFill>
            <a:prstDash val="solid"/>
          </a:ln>
        </p:spPr>
      </p:sp>
      <p:sp>
        <p:nvSpPr>
          <p:cNvPr id="43" name="Text 40"/>
          <p:cNvSpPr/>
          <p:nvPr/>
        </p:nvSpPr>
        <p:spPr>
          <a:xfrm>
            <a:off x="612648" y="4352544"/>
            <a:ext cx="3090672" cy="566928"/>
          </a:xfrm>
          <a:prstGeom prst="rect">
            <a:avLst/>
          </a:prstGeom>
          <a:noFill/>
          <a:ln/>
        </p:spPr>
        <p:txBody>
          <a:bodyPr wrap="square"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B-Tree</a:t>
            </a:r>
            <a:endParaRPr lang="en-US" sz="1100" dirty="0"/>
          </a:p>
        </p:txBody>
      </p:sp>
      <p:sp>
        <p:nvSpPr>
          <p:cNvPr id="44" name="Shape 41"/>
          <p:cNvSpPr/>
          <p:nvPr/>
        </p:nvSpPr>
        <p:spPr>
          <a:xfrm>
            <a:off x="3794760" y="4352544"/>
            <a:ext cx="2377440" cy="566928"/>
          </a:xfrm>
          <a:prstGeom prst="rect">
            <a:avLst/>
          </a:prstGeom>
          <a:solidFill>
            <a:srgbClr val="F3F6FC"/>
          </a:solidFill>
          <a:ln w="9525">
            <a:solidFill>
              <a:srgbClr val="E3E8F2"/>
            </a:solidFill>
            <a:prstDash val="solid"/>
          </a:ln>
        </p:spPr>
      </p:sp>
      <p:sp>
        <p:nvSpPr>
          <p:cNvPr id="45" name="Text 42"/>
          <p:cNvSpPr/>
          <p:nvPr/>
        </p:nvSpPr>
        <p:spPr>
          <a:xfrm>
            <a:off x="3904488" y="4352544"/>
            <a:ext cx="2176272" cy="566928"/>
          </a:xfrm>
          <a:prstGeom prst="rect">
            <a:avLst/>
          </a:prstGeom>
          <a:noFill/>
          <a:ln/>
        </p:spPr>
        <p:txBody>
          <a:bodyPr wrap="square" rtlCol="0" anchor="ctr"/>
          <a:lstStyle/>
          <a:p>
            <a:pPr marL="0" indent="0">
              <a:buNone/>
            </a:pPr>
            <a:r>
              <a:rPr lang="en-US" sz="1100" dirty="0">
                <a:solidFill>
                  <a:srgbClr val="2A3350"/>
                </a:solidFill>
                <a:latin typeface="Calibri" pitchFamily="34" charset="0"/>
                <a:ea typeface="Calibri" pitchFamily="34" charset="-122"/>
                <a:cs typeface="Calibri" pitchFamily="34" charset="-120"/>
              </a:rPr>
              <a:t>O(log n) guaranteed</a:t>
            </a:r>
            <a:endParaRPr lang="en-US" sz="1100" dirty="0"/>
          </a:p>
        </p:txBody>
      </p:sp>
      <p:sp>
        <p:nvSpPr>
          <p:cNvPr id="46" name="Shape 43"/>
          <p:cNvSpPr/>
          <p:nvPr/>
        </p:nvSpPr>
        <p:spPr>
          <a:xfrm>
            <a:off x="6172200" y="4352544"/>
            <a:ext cx="2468880" cy="566928"/>
          </a:xfrm>
          <a:prstGeom prst="rect">
            <a:avLst/>
          </a:prstGeom>
          <a:solidFill>
            <a:srgbClr val="F3F6FC"/>
          </a:solidFill>
          <a:ln w="9525">
            <a:solidFill>
              <a:srgbClr val="E3E8F2"/>
            </a:solidFill>
            <a:prstDash val="solid"/>
          </a:ln>
        </p:spPr>
      </p:sp>
      <p:sp>
        <p:nvSpPr>
          <p:cNvPr id="47" name="Text 44"/>
          <p:cNvSpPr/>
          <p:nvPr/>
        </p:nvSpPr>
        <p:spPr>
          <a:xfrm>
            <a:off x="6281928" y="4352544"/>
            <a:ext cx="2267712" cy="566928"/>
          </a:xfrm>
          <a:prstGeom prst="rect">
            <a:avLst/>
          </a:prstGeom>
          <a:noFill/>
          <a:ln/>
        </p:spPr>
        <p:txBody>
          <a:bodyPr wrap="square" rtlCol="0" anchor="ctr"/>
          <a:lstStyle/>
          <a:p>
            <a:pPr marL="0" indent="0">
              <a:buNone/>
            </a:pPr>
            <a:r>
              <a:rPr lang="en-US" sz="1100" dirty="0">
                <a:solidFill>
                  <a:srgbClr val="2A3350"/>
                </a:solidFill>
                <a:latin typeface="Calibri" pitchFamily="34" charset="0"/>
                <a:ea typeface="Calibri" pitchFamily="34" charset="-122"/>
                <a:cs typeface="Calibri" pitchFamily="34" charset="-120"/>
              </a:rPr>
              <a:t>Balanced multi-way tree</a:t>
            </a:r>
            <a:endParaRPr lang="en-US" sz="1100" dirty="0"/>
          </a:p>
        </p:txBody>
      </p:sp>
      <p:sp>
        <p:nvSpPr>
          <p:cNvPr id="48" name="Shape 45"/>
          <p:cNvSpPr/>
          <p:nvPr/>
        </p:nvSpPr>
        <p:spPr>
          <a:xfrm>
            <a:off x="8641080" y="4352544"/>
            <a:ext cx="3017520" cy="566928"/>
          </a:xfrm>
          <a:prstGeom prst="rect">
            <a:avLst/>
          </a:prstGeom>
          <a:solidFill>
            <a:srgbClr val="F3F6FC"/>
          </a:solidFill>
          <a:ln w="9525">
            <a:solidFill>
              <a:srgbClr val="E3E8F2"/>
            </a:solidFill>
            <a:prstDash val="solid"/>
          </a:ln>
        </p:spPr>
      </p:sp>
      <p:sp>
        <p:nvSpPr>
          <p:cNvPr id="49" name="Text 46"/>
          <p:cNvSpPr/>
          <p:nvPr/>
        </p:nvSpPr>
        <p:spPr>
          <a:xfrm>
            <a:off x="8750808" y="4352544"/>
            <a:ext cx="2816352" cy="566928"/>
          </a:xfrm>
          <a:prstGeom prst="rect">
            <a:avLst/>
          </a:prstGeom>
          <a:noFill/>
          <a:ln/>
        </p:spPr>
        <p:txBody>
          <a:bodyPr wrap="square" rtlCol="0" anchor="ctr"/>
          <a:lstStyle/>
          <a:p>
            <a:pPr marL="0" indent="0">
              <a:buNone/>
            </a:pPr>
            <a:r>
              <a:rPr lang="en-US" sz="1100" dirty="0">
                <a:solidFill>
                  <a:srgbClr val="2A3350"/>
                </a:solidFill>
                <a:latin typeface="Calibri" pitchFamily="34" charset="0"/>
                <a:ea typeface="Calibri" pitchFamily="34" charset="-122"/>
                <a:cs typeface="Calibri" pitchFamily="34" charset="-120"/>
              </a:rPr>
              <a:t>Each node holds multiple keys; well suited to large indexed datasets</a:t>
            </a:r>
            <a:endParaRPr lang="en-US" sz="1100" dirty="0"/>
          </a:p>
        </p:txBody>
      </p:sp>
      <p:sp>
        <p:nvSpPr>
          <p:cNvPr id="50" name="Shape 47"/>
          <p:cNvSpPr/>
          <p:nvPr/>
        </p:nvSpPr>
        <p:spPr>
          <a:xfrm>
            <a:off x="502920" y="5148072"/>
            <a:ext cx="11155680" cy="621792"/>
          </a:xfrm>
          <a:prstGeom prst="roundRect">
            <a:avLst>
              <a:gd name="adj" fmla="val 11765"/>
            </a:avLst>
          </a:prstGeom>
          <a:solidFill>
            <a:srgbClr val="F3F6FC"/>
          </a:solidFill>
          <a:ln/>
        </p:spPr>
      </p:sp>
      <p:sp>
        <p:nvSpPr>
          <p:cNvPr id="51" name="Text 48"/>
          <p:cNvSpPr/>
          <p:nvPr/>
        </p:nvSpPr>
        <p:spPr>
          <a:xfrm>
            <a:off x="731520" y="5148072"/>
            <a:ext cx="10698480" cy="621792"/>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Takeaway:  </a:t>
            </a:r>
            <a:r>
              <a:rPr lang="en-US" sz="1200" dirty="0">
                <a:solidFill>
                  <a:srgbClr val="2A3350"/>
                </a:solidFill>
                <a:latin typeface="Calibri" pitchFamily="34" charset="0"/>
                <a:ea typeface="Calibri" pitchFamily="34" charset="-122"/>
                <a:cs typeface="Calibri" pitchFamily="34" charset="-120"/>
              </a:rPr>
              <a:t>Linear search does not scale, and a plain BST can become unbalanced. AVL and B-Trees solve exactly this — they stay balanced, keeping search reliably fast.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CADCFC"/>
          </a:solidFill>
          <a:ln/>
        </p:spPr>
      </p:sp>
      <p:pic>
        <p:nvPicPr>
          <p:cNvPr id="3" name="Image 0" descr="/home/claude/proj/icons/sitemap.png"/>
          <p:cNvPicPr>
            <a:picLocks noChangeAspect="1"/>
          </p:cNvPicPr>
          <p:nvPr/>
        </p:nvPicPr>
        <p:blipFill>
          <a:blip r:embed="rId3"/>
          <a:stretch>
            <a:fillRect/>
          </a:stretch>
        </p:blipFill>
        <p:spPr>
          <a:xfrm>
            <a:off x="630479" y="584759"/>
            <a:ext cx="311810" cy="311810"/>
          </a:xfrm>
          <a:prstGeom prst="rect">
            <a:avLst/>
          </a:prstGeom>
        </p:spPr>
      </p:pic>
      <p:sp>
        <p:nvSpPr>
          <p:cNvPr id="4" name="Text 1"/>
          <p:cNvSpPr/>
          <p:nvPr/>
        </p:nvSpPr>
        <p:spPr>
          <a:xfrm>
            <a:off x="1234440" y="402336"/>
            <a:ext cx="7315200" cy="274320"/>
          </a:xfrm>
          <a:prstGeom prst="rect">
            <a:avLst/>
          </a:prstGeom>
          <a:noFill/>
          <a:ln/>
        </p:spPr>
        <p:txBody>
          <a:bodyPr wrap="square" rtlCol="0" anchor="ctr"/>
          <a:lstStyle/>
          <a:p>
            <a:pPr marL="0" indent="0">
              <a:buNone/>
            </a:pPr>
            <a:r>
              <a:rPr lang="en-US" sz="1200" b="1" kern="0" spc="200" dirty="0">
                <a:solidFill>
                  <a:srgbClr val="5A6B87"/>
                </a:solidFill>
                <a:latin typeface="Calibri" pitchFamily="34" charset="0"/>
                <a:ea typeface="Calibri" pitchFamily="34" charset="-122"/>
                <a:cs typeface="Calibri" pitchFamily="34" charset="-120"/>
              </a:rPr>
              <a:t>PROJECT WORKFLOW</a:t>
            </a:r>
            <a:endParaRPr lang="en-US" sz="1200" dirty="0"/>
          </a:p>
        </p:txBody>
      </p:sp>
      <p:sp>
        <p:nvSpPr>
          <p:cNvPr id="5" name="Text 2"/>
          <p:cNvSpPr/>
          <p:nvPr/>
        </p:nvSpPr>
        <p:spPr>
          <a:xfrm>
            <a:off x="1234440" y="640080"/>
            <a:ext cx="9601200" cy="50292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Methodology</a:t>
            </a:r>
            <a:endParaRPr lang="en-US" sz="3000" dirty="0"/>
          </a:p>
        </p:txBody>
      </p:sp>
      <p:sp>
        <p:nvSpPr>
          <p:cNvPr id="6" name="Shape 3"/>
          <p:cNvSpPr/>
          <p:nvPr/>
        </p:nvSpPr>
        <p:spPr>
          <a:xfrm>
            <a:off x="502920" y="1298448"/>
            <a:ext cx="11183112" cy="0"/>
          </a:xfrm>
          <a:prstGeom prst="line">
            <a:avLst/>
          </a:prstGeom>
          <a:noFill/>
          <a:ln w="15875">
            <a:solidFill>
              <a:srgbClr val="E3E8F2"/>
            </a:solidFill>
            <a:prstDash val="solid"/>
          </a:ln>
        </p:spPr>
      </p:sp>
      <p:sp>
        <p:nvSpPr>
          <p:cNvPr id="7" name="Text 4"/>
          <p:cNvSpPr/>
          <p:nvPr/>
        </p:nvSpPr>
        <p:spPr>
          <a:xfrm>
            <a:off x="502920" y="6528816"/>
            <a:ext cx="7315200" cy="274320"/>
          </a:xfrm>
          <a:prstGeom prst="rect">
            <a:avLst/>
          </a:prstGeom>
          <a:noFill/>
          <a:ln/>
        </p:spPr>
        <p:txBody>
          <a:bodyPr wrap="square" rtlCol="0" anchor="ctr"/>
          <a:lstStyle/>
          <a:p>
            <a:pPr marL="0" indent="0">
              <a:buNone/>
            </a:pPr>
            <a:r>
              <a:rPr lang="en-US" sz="900" dirty="0">
                <a:solidFill>
                  <a:srgbClr val="5A6B87"/>
                </a:solidFill>
                <a:latin typeface="Calibri" pitchFamily="34" charset="0"/>
                <a:ea typeface="Calibri" pitchFamily="34" charset="-122"/>
                <a:cs typeface="Calibri" pitchFamily="34" charset="-120"/>
              </a:rPr>
              <a:t>Mini Search Engine  |  AVL Tree &amp; B-Tree Indexing</a:t>
            </a:r>
            <a:endParaRPr lang="en-US" sz="900" dirty="0"/>
          </a:p>
        </p:txBody>
      </p:sp>
      <p:sp>
        <p:nvSpPr>
          <p:cNvPr id="8" name="Text 5"/>
          <p:cNvSpPr/>
          <p:nvPr/>
        </p:nvSpPr>
        <p:spPr>
          <a:xfrm>
            <a:off x="11521440" y="6528816"/>
            <a:ext cx="365760" cy="274320"/>
          </a:xfrm>
          <a:prstGeom prst="rect">
            <a:avLst/>
          </a:prstGeom>
          <a:noFill/>
          <a:ln/>
        </p:spPr>
        <p:txBody>
          <a:bodyPr wrap="square" rtlCol="0" anchor="ctr"/>
          <a:lstStyle/>
          <a:p>
            <a:pPr marL="0" indent="0" algn="r">
              <a:buNone/>
            </a:pPr>
            <a:r>
              <a:rPr lang="en-US" sz="900" dirty="0">
                <a:solidFill>
                  <a:srgbClr val="5A6B87"/>
                </a:solidFill>
                <a:latin typeface="Calibri" pitchFamily="34" charset="0"/>
                <a:ea typeface="Calibri" pitchFamily="34" charset="-122"/>
                <a:cs typeface="Calibri" pitchFamily="34" charset="-120"/>
              </a:rPr>
              <a:t>6</a:t>
            </a:r>
            <a:endParaRPr lang="en-US" sz="900" dirty="0"/>
          </a:p>
        </p:txBody>
      </p:sp>
      <p:sp>
        <p:nvSpPr>
          <p:cNvPr id="9" name="Shape 6"/>
          <p:cNvSpPr/>
          <p:nvPr/>
        </p:nvSpPr>
        <p:spPr>
          <a:xfrm>
            <a:off x="502920" y="1783080"/>
            <a:ext cx="457200" cy="457200"/>
          </a:xfrm>
          <a:prstGeom prst="ellipse">
            <a:avLst/>
          </a:prstGeom>
          <a:solidFill>
            <a:srgbClr val="1E2761"/>
          </a:solidFill>
          <a:ln/>
        </p:spPr>
      </p:sp>
      <p:sp>
        <p:nvSpPr>
          <p:cNvPr id="10" name="Text 7"/>
          <p:cNvSpPr/>
          <p:nvPr/>
        </p:nvSpPr>
        <p:spPr>
          <a:xfrm>
            <a:off x="502920" y="1783080"/>
            <a:ext cx="457200" cy="45720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11" name="Text 8"/>
          <p:cNvSpPr/>
          <p:nvPr/>
        </p:nvSpPr>
        <p:spPr>
          <a:xfrm>
            <a:off x="1124712" y="1728216"/>
            <a:ext cx="4722876" cy="566928"/>
          </a:xfrm>
          <a:prstGeom prst="rect">
            <a:avLst/>
          </a:prstGeom>
          <a:noFill/>
          <a:ln/>
        </p:spPr>
        <p:txBody>
          <a:bodyPr wrap="square" rtlCol="0" anchor="ctr"/>
          <a:lstStyle/>
          <a:p>
            <a:pPr marL="0" indent="0">
              <a:lnSpc>
                <a:spcPct val="110000"/>
              </a:lnSpc>
              <a:buNone/>
            </a:pPr>
            <a:r>
              <a:rPr lang="en-US" sz="1300" dirty="0">
                <a:solidFill>
                  <a:srgbClr val="2A3350"/>
                </a:solidFill>
                <a:latin typeface="Calibri" pitchFamily="34" charset="0"/>
                <a:ea typeface="Calibri" pitchFamily="34" charset="-122"/>
                <a:cs typeface="Calibri" pitchFamily="34" charset="-120"/>
              </a:rPr>
              <a:t>Input files/documents are provided to the system</a:t>
            </a:r>
            <a:endParaRPr lang="en-US" sz="1300" dirty="0"/>
          </a:p>
        </p:txBody>
      </p:sp>
      <p:sp>
        <p:nvSpPr>
          <p:cNvPr id="12" name="Shape 9"/>
          <p:cNvSpPr/>
          <p:nvPr/>
        </p:nvSpPr>
        <p:spPr>
          <a:xfrm>
            <a:off x="731520" y="2240280"/>
            <a:ext cx="0" cy="502920"/>
          </a:xfrm>
          <a:prstGeom prst="line">
            <a:avLst/>
          </a:prstGeom>
          <a:noFill/>
          <a:ln w="19050">
            <a:solidFill>
              <a:srgbClr val="E3E8F2"/>
            </a:solidFill>
            <a:prstDash val="dash"/>
          </a:ln>
        </p:spPr>
      </p:sp>
      <p:sp>
        <p:nvSpPr>
          <p:cNvPr id="13" name="Shape 10"/>
          <p:cNvSpPr/>
          <p:nvPr/>
        </p:nvSpPr>
        <p:spPr>
          <a:xfrm>
            <a:off x="502920" y="2743200"/>
            <a:ext cx="457200" cy="457200"/>
          </a:xfrm>
          <a:prstGeom prst="ellipse">
            <a:avLst/>
          </a:prstGeom>
          <a:solidFill>
            <a:srgbClr val="1E2761"/>
          </a:solidFill>
          <a:ln/>
        </p:spPr>
      </p:sp>
      <p:sp>
        <p:nvSpPr>
          <p:cNvPr id="14" name="Text 11"/>
          <p:cNvSpPr/>
          <p:nvPr/>
        </p:nvSpPr>
        <p:spPr>
          <a:xfrm>
            <a:off x="502920" y="2743200"/>
            <a:ext cx="457200" cy="45720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5" name="Text 12"/>
          <p:cNvSpPr/>
          <p:nvPr/>
        </p:nvSpPr>
        <p:spPr>
          <a:xfrm>
            <a:off x="1124712" y="2688336"/>
            <a:ext cx="4722876" cy="566928"/>
          </a:xfrm>
          <a:prstGeom prst="rect">
            <a:avLst/>
          </a:prstGeom>
          <a:noFill/>
          <a:ln/>
        </p:spPr>
        <p:txBody>
          <a:bodyPr wrap="square" rtlCol="0" anchor="ctr"/>
          <a:lstStyle/>
          <a:p>
            <a:pPr marL="0" indent="0">
              <a:lnSpc>
                <a:spcPct val="110000"/>
              </a:lnSpc>
              <a:buNone/>
            </a:pPr>
            <a:r>
              <a:rPr lang="en-US" sz="1300" dirty="0">
                <a:solidFill>
                  <a:srgbClr val="2A3350"/>
                </a:solidFill>
                <a:latin typeface="Calibri" pitchFamily="34" charset="0"/>
                <a:ea typeface="Calibri" pitchFamily="34" charset="-122"/>
                <a:cs typeface="Calibri" pitchFamily="34" charset="-120"/>
              </a:rPr>
              <a:t>Relevant file/document information is processed</a:t>
            </a:r>
            <a:endParaRPr lang="en-US" sz="1300" dirty="0"/>
          </a:p>
        </p:txBody>
      </p:sp>
      <p:sp>
        <p:nvSpPr>
          <p:cNvPr id="16" name="Shape 13"/>
          <p:cNvSpPr/>
          <p:nvPr/>
        </p:nvSpPr>
        <p:spPr>
          <a:xfrm>
            <a:off x="731520" y="3200400"/>
            <a:ext cx="0" cy="502920"/>
          </a:xfrm>
          <a:prstGeom prst="line">
            <a:avLst/>
          </a:prstGeom>
          <a:noFill/>
          <a:ln w="19050">
            <a:solidFill>
              <a:srgbClr val="E3E8F2"/>
            </a:solidFill>
            <a:prstDash val="dash"/>
          </a:ln>
        </p:spPr>
      </p:sp>
      <p:sp>
        <p:nvSpPr>
          <p:cNvPr id="17" name="Shape 14"/>
          <p:cNvSpPr/>
          <p:nvPr/>
        </p:nvSpPr>
        <p:spPr>
          <a:xfrm>
            <a:off x="502920" y="3703320"/>
            <a:ext cx="457200" cy="457200"/>
          </a:xfrm>
          <a:prstGeom prst="ellipse">
            <a:avLst/>
          </a:prstGeom>
          <a:solidFill>
            <a:srgbClr val="1E2761"/>
          </a:solidFill>
          <a:ln/>
        </p:spPr>
      </p:sp>
      <p:sp>
        <p:nvSpPr>
          <p:cNvPr id="18" name="Text 15"/>
          <p:cNvSpPr/>
          <p:nvPr/>
        </p:nvSpPr>
        <p:spPr>
          <a:xfrm>
            <a:off x="502920" y="3703320"/>
            <a:ext cx="457200" cy="45720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9" name="Text 16"/>
          <p:cNvSpPr/>
          <p:nvPr/>
        </p:nvSpPr>
        <p:spPr>
          <a:xfrm>
            <a:off x="1124712" y="3648456"/>
            <a:ext cx="4722876" cy="566928"/>
          </a:xfrm>
          <a:prstGeom prst="rect">
            <a:avLst/>
          </a:prstGeom>
          <a:noFill/>
          <a:ln/>
        </p:spPr>
        <p:txBody>
          <a:bodyPr wrap="square" rtlCol="0" anchor="ctr"/>
          <a:lstStyle/>
          <a:p>
            <a:pPr marL="0" indent="0">
              <a:lnSpc>
                <a:spcPct val="110000"/>
              </a:lnSpc>
              <a:buNone/>
            </a:pPr>
            <a:r>
              <a:rPr lang="en-US" sz="1300" dirty="0">
                <a:solidFill>
                  <a:srgbClr val="2A3350"/>
                </a:solidFill>
                <a:latin typeface="Calibri" pitchFamily="34" charset="0"/>
                <a:ea typeface="Calibri" pitchFamily="34" charset="-122"/>
                <a:cs typeface="Calibri" pitchFamily="34" charset="-120"/>
              </a:rPr>
              <a:t>An index is created from the processed information</a:t>
            </a:r>
            <a:endParaRPr lang="en-US" sz="1300" dirty="0"/>
          </a:p>
        </p:txBody>
      </p:sp>
      <p:sp>
        <p:nvSpPr>
          <p:cNvPr id="20" name="Shape 17"/>
          <p:cNvSpPr/>
          <p:nvPr/>
        </p:nvSpPr>
        <p:spPr>
          <a:xfrm>
            <a:off x="731520" y="4160520"/>
            <a:ext cx="0" cy="502920"/>
          </a:xfrm>
          <a:prstGeom prst="line">
            <a:avLst/>
          </a:prstGeom>
          <a:noFill/>
          <a:ln w="19050">
            <a:solidFill>
              <a:srgbClr val="E3E8F2"/>
            </a:solidFill>
            <a:prstDash val="dash"/>
          </a:ln>
        </p:spPr>
      </p:sp>
      <p:sp>
        <p:nvSpPr>
          <p:cNvPr id="21" name="Shape 18"/>
          <p:cNvSpPr/>
          <p:nvPr/>
        </p:nvSpPr>
        <p:spPr>
          <a:xfrm>
            <a:off x="502920" y="4663440"/>
            <a:ext cx="457200" cy="457200"/>
          </a:xfrm>
          <a:prstGeom prst="ellipse">
            <a:avLst/>
          </a:prstGeom>
          <a:solidFill>
            <a:srgbClr val="1E2761"/>
          </a:solidFill>
          <a:ln/>
        </p:spPr>
      </p:sp>
      <p:sp>
        <p:nvSpPr>
          <p:cNvPr id="22" name="Text 19"/>
          <p:cNvSpPr/>
          <p:nvPr/>
        </p:nvSpPr>
        <p:spPr>
          <a:xfrm>
            <a:off x="502920" y="4663440"/>
            <a:ext cx="457200" cy="45720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3" name="Text 20"/>
          <p:cNvSpPr/>
          <p:nvPr/>
        </p:nvSpPr>
        <p:spPr>
          <a:xfrm>
            <a:off x="1124712" y="4608576"/>
            <a:ext cx="4722876" cy="566928"/>
          </a:xfrm>
          <a:prstGeom prst="rect">
            <a:avLst/>
          </a:prstGeom>
          <a:noFill/>
          <a:ln/>
        </p:spPr>
        <p:txBody>
          <a:bodyPr wrap="square" rtlCol="0" anchor="ctr"/>
          <a:lstStyle/>
          <a:p>
            <a:pPr marL="0" indent="0">
              <a:lnSpc>
                <a:spcPct val="110000"/>
              </a:lnSpc>
              <a:buNone/>
            </a:pPr>
            <a:r>
              <a:rPr lang="en-US" sz="1300" dirty="0">
                <a:solidFill>
                  <a:srgbClr val="2A3350"/>
                </a:solidFill>
                <a:latin typeface="Calibri" pitchFamily="34" charset="0"/>
                <a:ea typeface="Calibri" pitchFamily="34" charset="-122"/>
                <a:cs typeface="Calibri" pitchFamily="34" charset="-120"/>
              </a:rPr>
              <a:t>Indexed information is organised using AVL Tree and B-Tree</a:t>
            </a:r>
            <a:endParaRPr lang="en-US" sz="1300" dirty="0"/>
          </a:p>
        </p:txBody>
      </p:sp>
      <p:sp>
        <p:nvSpPr>
          <p:cNvPr id="24" name="Shape 21"/>
          <p:cNvSpPr/>
          <p:nvPr/>
        </p:nvSpPr>
        <p:spPr>
          <a:xfrm>
            <a:off x="6323076" y="1783080"/>
            <a:ext cx="457200" cy="457200"/>
          </a:xfrm>
          <a:prstGeom prst="ellipse">
            <a:avLst/>
          </a:prstGeom>
          <a:solidFill>
            <a:srgbClr val="1E2761"/>
          </a:solidFill>
          <a:ln/>
        </p:spPr>
      </p:sp>
      <p:sp>
        <p:nvSpPr>
          <p:cNvPr id="25" name="Text 22"/>
          <p:cNvSpPr/>
          <p:nvPr/>
        </p:nvSpPr>
        <p:spPr>
          <a:xfrm>
            <a:off x="6323076" y="1783080"/>
            <a:ext cx="457200" cy="45720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6" name="Text 23"/>
          <p:cNvSpPr/>
          <p:nvPr/>
        </p:nvSpPr>
        <p:spPr>
          <a:xfrm>
            <a:off x="6944868" y="1728216"/>
            <a:ext cx="4722876" cy="566928"/>
          </a:xfrm>
          <a:prstGeom prst="rect">
            <a:avLst/>
          </a:prstGeom>
          <a:noFill/>
          <a:ln/>
        </p:spPr>
        <p:txBody>
          <a:bodyPr wrap="square" rtlCol="0" anchor="ctr"/>
          <a:lstStyle/>
          <a:p>
            <a:pPr marL="0" indent="0">
              <a:lnSpc>
                <a:spcPct val="110000"/>
              </a:lnSpc>
              <a:buNone/>
            </a:pPr>
            <a:r>
              <a:rPr lang="en-US" sz="1300" dirty="0">
                <a:solidFill>
                  <a:srgbClr val="2A3350"/>
                </a:solidFill>
                <a:latin typeface="Calibri" pitchFamily="34" charset="0"/>
                <a:ea typeface="Calibri" pitchFamily="34" charset="-122"/>
                <a:cs typeface="Calibri" pitchFamily="34" charset="-120"/>
              </a:rPr>
              <a:t>User enters a search query / keyword</a:t>
            </a:r>
            <a:endParaRPr lang="en-US" sz="1300" dirty="0"/>
          </a:p>
        </p:txBody>
      </p:sp>
      <p:sp>
        <p:nvSpPr>
          <p:cNvPr id="27" name="Shape 24"/>
          <p:cNvSpPr/>
          <p:nvPr/>
        </p:nvSpPr>
        <p:spPr>
          <a:xfrm>
            <a:off x="6551676" y="2240280"/>
            <a:ext cx="0" cy="502920"/>
          </a:xfrm>
          <a:prstGeom prst="line">
            <a:avLst/>
          </a:prstGeom>
          <a:noFill/>
          <a:ln w="19050">
            <a:solidFill>
              <a:srgbClr val="E3E8F2"/>
            </a:solidFill>
            <a:prstDash val="dash"/>
          </a:ln>
        </p:spPr>
      </p:sp>
      <p:sp>
        <p:nvSpPr>
          <p:cNvPr id="28" name="Shape 25"/>
          <p:cNvSpPr/>
          <p:nvPr/>
        </p:nvSpPr>
        <p:spPr>
          <a:xfrm>
            <a:off x="6323076" y="2743200"/>
            <a:ext cx="457200" cy="457200"/>
          </a:xfrm>
          <a:prstGeom prst="ellipse">
            <a:avLst/>
          </a:prstGeom>
          <a:solidFill>
            <a:srgbClr val="1E2761"/>
          </a:solidFill>
          <a:ln/>
        </p:spPr>
      </p:sp>
      <p:sp>
        <p:nvSpPr>
          <p:cNvPr id="29" name="Text 26"/>
          <p:cNvSpPr/>
          <p:nvPr/>
        </p:nvSpPr>
        <p:spPr>
          <a:xfrm>
            <a:off x="6323076" y="2743200"/>
            <a:ext cx="457200" cy="45720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6</a:t>
            </a:r>
            <a:endParaRPr lang="en-US" sz="1600" dirty="0"/>
          </a:p>
        </p:txBody>
      </p:sp>
      <p:sp>
        <p:nvSpPr>
          <p:cNvPr id="30" name="Text 27"/>
          <p:cNvSpPr/>
          <p:nvPr/>
        </p:nvSpPr>
        <p:spPr>
          <a:xfrm>
            <a:off x="6944868" y="2688336"/>
            <a:ext cx="4722876" cy="566928"/>
          </a:xfrm>
          <a:prstGeom prst="rect">
            <a:avLst/>
          </a:prstGeom>
          <a:noFill/>
          <a:ln/>
        </p:spPr>
        <p:txBody>
          <a:bodyPr wrap="square" rtlCol="0" anchor="ctr"/>
          <a:lstStyle/>
          <a:p>
            <a:pPr marL="0" indent="0">
              <a:lnSpc>
                <a:spcPct val="110000"/>
              </a:lnSpc>
              <a:buNone/>
            </a:pPr>
            <a:r>
              <a:rPr lang="en-US" sz="1300" dirty="0">
                <a:solidFill>
                  <a:srgbClr val="2A3350"/>
                </a:solidFill>
                <a:latin typeface="Calibri" pitchFamily="34" charset="0"/>
                <a:ea typeface="Calibri" pitchFamily="34" charset="-122"/>
                <a:cs typeface="Calibri" pitchFamily="34" charset="-120"/>
              </a:rPr>
              <a:t>The appropriate tree structure is searched efficiently</a:t>
            </a:r>
            <a:endParaRPr lang="en-US" sz="1300" dirty="0"/>
          </a:p>
        </p:txBody>
      </p:sp>
      <p:sp>
        <p:nvSpPr>
          <p:cNvPr id="31" name="Shape 28"/>
          <p:cNvSpPr/>
          <p:nvPr/>
        </p:nvSpPr>
        <p:spPr>
          <a:xfrm>
            <a:off x="6551676" y="3200400"/>
            <a:ext cx="0" cy="502920"/>
          </a:xfrm>
          <a:prstGeom prst="line">
            <a:avLst/>
          </a:prstGeom>
          <a:noFill/>
          <a:ln w="19050">
            <a:solidFill>
              <a:srgbClr val="E3E8F2"/>
            </a:solidFill>
            <a:prstDash val="dash"/>
          </a:ln>
        </p:spPr>
      </p:sp>
      <p:sp>
        <p:nvSpPr>
          <p:cNvPr id="32" name="Shape 29"/>
          <p:cNvSpPr/>
          <p:nvPr/>
        </p:nvSpPr>
        <p:spPr>
          <a:xfrm>
            <a:off x="6323076" y="3703320"/>
            <a:ext cx="457200" cy="457200"/>
          </a:xfrm>
          <a:prstGeom prst="ellipse">
            <a:avLst/>
          </a:prstGeom>
          <a:solidFill>
            <a:srgbClr val="1E2761"/>
          </a:solidFill>
          <a:ln/>
        </p:spPr>
      </p:sp>
      <p:sp>
        <p:nvSpPr>
          <p:cNvPr id="33" name="Text 30"/>
          <p:cNvSpPr/>
          <p:nvPr/>
        </p:nvSpPr>
        <p:spPr>
          <a:xfrm>
            <a:off x="6323076" y="3703320"/>
            <a:ext cx="457200" cy="45720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7</a:t>
            </a:r>
            <a:endParaRPr lang="en-US" sz="1600" dirty="0"/>
          </a:p>
        </p:txBody>
      </p:sp>
      <p:sp>
        <p:nvSpPr>
          <p:cNvPr id="34" name="Text 31"/>
          <p:cNvSpPr/>
          <p:nvPr/>
        </p:nvSpPr>
        <p:spPr>
          <a:xfrm>
            <a:off x="6944868" y="3648456"/>
            <a:ext cx="4722876" cy="566928"/>
          </a:xfrm>
          <a:prstGeom prst="rect">
            <a:avLst/>
          </a:prstGeom>
          <a:noFill/>
          <a:ln/>
        </p:spPr>
        <p:txBody>
          <a:bodyPr wrap="square" rtlCol="0" anchor="ctr"/>
          <a:lstStyle/>
          <a:p>
            <a:pPr marL="0" indent="0">
              <a:lnSpc>
                <a:spcPct val="110000"/>
              </a:lnSpc>
              <a:buNone/>
            </a:pPr>
            <a:r>
              <a:rPr lang="en-US" sz="1300" dirty="0">
                <a:solidFill>
                  <a:srgbClr val="2A3350"/>
                </a:solidFill>
                <a:latin typeface="Calibri" pitchFamily="34" charset="0"/>
                <a:ea typeface="Calibri" pitchFamily="34" charset="-122"/>
                <a:cs typeface="Calibri" pitchFamily="34" charset="-120"/>
              </a:rPr>
              <a:t>Matching files/documents are retrieved and displayed</a:t>
            </a:r>
            <a:endParaRPr lang="en-US" sz="1300" dirty="0"/>
          </a:p>
        </p:txBody>
      </p:sp>
      <p:sp>
        <p:nvSpPr>
          <p:cNvPr id="35" name="Shape 32"/>
          <p:cNvSpPr/>
          <p:nvPr/>
        </p:nvSpPr>
        <p:spPr>
          <a:xfrm>
            <a:off x="502920" y="5806440"/>
            <a:ext cx="11183112" cy="621792"/>
          </a:xfrm>
          <a:prstGeom prst="roundRect">
            <a:avLst>
              <a:gd name="adj" fmla="val 11765"/>
            </a:avLst>
          </a:prstGeom>
          <a:solidFill>
            <a:srgbClr val="1E2761"/>
          </a:solidFill>
          <a:ln/>
        </p:spPr>
      </p:sp>
      <p:sp>
        <p:nvSpPr>
          <p:cNvPr id="36" name="Text 33"/>
          <p:cNvSpPr/>
          <p:nvPr/>
        </p:nvSpPr>
        <p:spPr>
          <a:xfrm>
            <a:off x="777240" y="5806440"/>
            <a:ext cx="10607040" cy="62179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Indexing happens once; </a:t>
            </a:r>
            <a:r>
              <a:rPr lang="en-US" sz="1300" dirty="0">
                <a:solidFill>
                  <a:srgbClr val="CADCFC"/>
                </a:solidFill>
                <a:latin typeface="Calibri" pitchFamily="34" charset="0"/>
                <a:ea typeface="Calibri" pitchFamily="34" charset="-122"/>
                <a:cs typeface="Calibri" pitchFamily="34" charset="-120"/>
              </a:rPr>
              <a:t>every search after that walks the tree instead of the raw file list.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CADCFC"/>
          </a:solidFill>
          <a:ln/>
        </p:spPr>
      </p:sp>
      <p:pic>
        <p:nvPicPr>
          <p:cNvPr id="3" name="Image 0" descr="/home/claude/proj/icons/sitemap.png"/>
          <p:cNvPicPr>
            <a:picLocks noChangeAspect="1"/>
          </p:cNvPicPr>
          <p:nvPr/>
        </p:nvPicPr>
        <p:blipFill>
          <a:blip r:embed="rId3"/>
          <a:stretch>
            <a:fillRect/>
          </a:stretch>
        </p:blipFill>
        <p:spPr>
          <a:xfrm>
            <a:off x="630479" y="584759"/>
            <a:ext cx="311810" cy="311810"/>
          </a:xfrm>
          <a:prstGeom prst="rect">
            <a:avLst/>
          </a:prstGeom>
        </p:spPr>
      </p:pic>
      <p:sp>
        <p:nvSpPr>
          <p:cNvPr id="4" name="Text 1"/>
          <p:cNvSpPr/>
          <p:nvPr/>
        </p:nvSpPr>
        <p:spPr>
          <a:xfrm>
            <a:off x="1234440" y="402336"/>
            <a:ext cx="7315200" cy="274320"/>
          </a:xfrm>
          <a:prstGeom prst="rect">
            <a:avLst/>
          </a:prstGeom>
          <a:noFill/>
          <a:ln/>
        </p:spPr>
        <p:txBody>
          <a:bodyPr wrap="square" rtlCol="0" anchor="ctr"/>
          <a:lstStyle/>
          <a:p>
            <a:pPr marL="0" indent="0">
              <a:buNone/>
            </a:pPr>
            <a:r>
              <a:rPr lang="en-US" sz="1200" b="1" kern="0" spc="200" dirty="0">
                <a:solidFill>
                  <a:srgbClr val="5A6B87"/>
                </a:solidFill>
                <a:latin typeface="Calibri" pitchFamily="34" charset="0"/>
                <a:ea typeface="Calibri" pitchFamily="34" charset="-122"/>
                <a:cs typeface="Calibri" pitchFamily="34" charset="-120"/>
              </a:rPr>
              <a:t>BALANCED BINARY SEARCH TREE</a:t>
            </a:r>
            <a:endParaRPr lang="en-US" sz="1200" dirty="0"/>
          </a:p>
        </p:txBody>
      </p:sp>
      <p:sp>
        <p:nvSpPr>
          <p:cNvPr id="5" name="Text 2"/>
          <p:cNvSpPr/>
          <p:nvPr/>
        </p:nvSpPr>
        <p:spPr>
          <a:xfrm>
            <a:off x="1234440" y="640080"/>
            <a:ext cx="9601200" cy="50292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Methodology — AVL Tree</a:t>
            </a:r>
            <a:endParaRPr lang="en-US" sz="3000" dirty="0"/>
          </a:p>
        </p:txBody>
      </p:sp>
      <p:sp>
        <p:nvSpPr>
          <p:cNvPr id="6" name="Shape 3"/>
          <p:cNvSpPr/>
          <p:nvPr/>
        </p:nvSpPr>
        <p:spPr>
          <a:xfrm>
            <a:off x="502920" y="1298448"/>
            <a:ext cx="11183112" cy="0"/>
          </a:xfrm>
          <a:prstGeom prst="line">
            <a:avLst/>
          </a:prstGeom>
          <a:noFill/>
          <a:ln w="15875">
            <a:solidFill>
              <a:srgbClr val="E3E8F2"/>
            </a:solidFill>
            <a:prstDash val="solid"/>
          </a:ln>
        </p:spPr>
      </p:sp>
      <p:sp>
        <p:nvSpPr>
          <p:cNvPr id="7" name="Text 4"/>
          <p:cNvSpPr/>
          <p:nvPr/>
        </p:nvSpPr>
        <p:spPr>
          <a:xfrm>
            <a:off x="502920" y="6528816"/>
            <a:ext cx="7315200" cy="274320"/>
          </a:xfrm>
          <a:prstGeom prst="rect">
            <a:avLst/>
          </a:prstGeom>
          <a:noFill/>
          <a:ln/>
        </p:spPr>
        <p:txBody>
          <a:bodyPr wrap="square" rtlCol="0" anchor="ctr"/>
          <a:lstStyle/>
          <a:p>
            <a:pPr marL="0" indent="0">
              <a:buNone/>
            </a:pPr>
            <a:r>
              <a:rPr lang="en-US" sz="900" dirty="0">
                <a:solidFill>
                  <a:srgbClr val="5A6B87"/>
                </a:solidFill>
                <a:latin typeface="Calibri" pitchFamily="34" charset="0"/>
                <a:ea typeface="Calibri" pitchFamily="34" charset="-122"/>
                <a:cs typeface="Calibri" pitchFamily="34" charset="-120"/>
              </a:rPr>
              <a:t>Mini Search Engine  |  AVL Tree &amp; B-Tree Indexing</a:t>
            </a:r>
            <a:endParaRPr lang="en-US" sz="900" dirty="0"/>
          </a:p>
        </p:txBody>
      </p:sp>
      <p:sp>
        <p:nvSpPr>
          <p:cNvPr id="8" name="Text 5"/>
          <p:cNvSpPr/>
          <p:nvPr/>
        </p:nvSpPr>
        <p:spPr>
          <a:xfrm>
            <a:off x="11521440" y="6528816"/>
            <a:ext cx="365760" cy="274320"/>
          </a:xfrm>
          <a:prstGeom prst="rect">
            <a:avLst/>
          </a:prstGeom>
          <a:noFill/>
          <a:ln/>
        </p:spPr>
        <p:txBody>
          <a:bodyPr wrap="square" rtlCol="0" anchor="ctr"/>
          <a:lstStyle/>
          <a:p>
            <a:pPr marL="0" indent="0" algn="r">
              <a:buNone/>
            </a:pPr>
            <a:r>
              <a:rPr lang="en-US" sz="900" dirty="0">
                <a:solidFill>
                  <a:srgbClr val="5A6B87"/>
                </a:solidFill>
                <a:latin typeface="Calibri" pitchFamily="34" charset="0"/>
                <a:ea typeface="Calibri" pitchFamily="34" charset="-122"/>
                <a:cs typeface="Calibri" pitchFamily="34" charset="-120"/>
              </a:rPr>
              <a:t>7</a:t>
            </a:r>
            <a:endParaRPr lang="en-US" sz="900" dirty="0"/>
          </a:p>
        </p:txBody>
      </p:sp>
      <p:sp>
        <p:nvSpPr>
          <p:cNvPr id="9" name="Shape 6"/>
          <p:cNvSpPr/>
          <p:nvPr/>
        </p:nvSpPr>
        <p:spPr>
          <a:xfrm>
            <a:off x="502920" y="1600200"/>
            <a:ext cx="4480560" cy="4663440"/>
          </a:xfrm>
          <a:prstGeom prst="roundRect">
            <a:avLst>
              <a:gd name="adj" fmla="val 2449"/>
            </a:avLst>
          </a:prstGeom>
          <a:solidFill>
            <a:srgbClr val="F3F6FC"/>
          </a:solidFill>
          <a:ln/>
        </p:spPr>
      </p:sp>
      <p:sp>
        <p:nvSpPr>
          <p:cNvPr id="10" name="Text 7"/>
          <p:cNvSpPr/>
          <p:nvPr/>
        </p:nvSpPr>
        <p:spPr>
          <a:xfrm>
            <a:off x="777240" y="1828800"/>
            <a:ext cx="3931920" cy="365760"/>
          </a:xfrm>
          <a:prstGeom prst="rect">
            <a:avLst/>
          </a:prstGeom>
          <a:noFill/>
          <a:ln/>
        </p:spPr>
        <p:txBody>
          <a:bodyPr wrap="square"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Key Properties</a:t>
            </a:r>
            <a:endParaRPr lang="en-US" sz="1600" dirty="0"/>
          </a:p>
        </p:txBody>
      </p:sp>
      <p:sp>
        <p:nvSpPr>
          <p:cNvPr id="11" name="Shape 8"/>
          <p:cNvSpPr/>
          <p:nvPr/>
        </p:nvSpPr>
        <p:spPr>
          <a:xfrm>
            <a:off x="822960" y="2368296"/>
            <a:ext cx="128016" cy="128016"/>
          </a:xfrm>
          <a:prstGeom prst="ellipse">
            <a:avLst/>
          </a:prstGeom>
          <a:solidFill>
            <a:srgbClr val="FFC145"/>
          </a:solidFill>
          <a:ln/>
        </p:spPr>
      </p:sp>
      <p:sp>
        <p:nvSpPr>
          <p:cNvPr id="12" name="Text 9"/>
          <p:cNvSpPr/>
          <p:nvPr/>
        </p:nvSpPr>
        <p:spPr>
          <a:xfrm>
            <a:off x="1078992" y="2240280"/>
            <a:ext cx="3794760" cy="594360"/>
          </a:xfrm>
          <a:prstGeom prst="rect">
            <a:avLst/>
          </a:prstGeom>
          <a:noFill/>
          <a:ln/>
        </p:spPr>
        <p:txBody>
          <a:bodyPr wrap="square" rtlCol="0" anchor="ctr"/>
          <a:lstStyle/>
          <a:p>
            <a:pPr marL="0" indent="0">
              <a:lnSpc>
                <a:spcPct val="115000"/>
              </a:lnSpc>
              <a:buNone/>
            </a:pPr>
            <a:r>
              <a:rPr lang="en-US" sz="1250" dirty="0">
                <a:solidFill>
                  <a:srgbClr val="2A3350"/>
                </a:solidFill>
                <a:latin typeface="Calibri" pitchFamily="34" charset="0"/>
                <a:ea typeface="Calibri" pitchFamily="34" charset="-122"/>
                <a:cs typeface="Calibri" pitchFamily="34" charset="-120"/>
              </a:rPr>
              <a:t>Self-balancing Binary Search Tree</a:t>
            </a:r>
            <a:endParaRPr lang="en-US" sz="1250" dirty="0"/>
          </a:p>
        </p:txBody>
      </p:sp>
      <p:sp>
        <p:nvSpPr>
          <p:cNvPr id="13" name="Shape 10"/>
          <p:cNvSpPr/>
          <p:nvPr/>
        </p:nvSpPr>
        <p:spPr>
          <a:xfrm>
            <a:off x="822960" y="3118104"/>
            <a:ext cx="128016" cy="128016"/>
          </a:xfrm>
          <a:prstGeom prst="ellipse">
            <a:avLst/>
          </a:prstGeom>
          <a:solidFill>
            <a:srgbClr val="FFC145"/>
          </a:solidFill>
          <a:ln/>
        </p:spPr>
      </p:sp>
      <p:sp>
        <p:nvSpPr>
          <p:cNvPr id="14" name="Text 11"/>
          <p:cNvSpPr/>
          <p:nvPr/>
        </p:nvSpPr>
        <p:spPr>
          <a:xfrm>
            <a:off x="1078992" y="2990088"/>
            <a:ext cx="3794760" cy="594360"/>
          </a:xfrm>
          <a:prstGeom prst="rect">
            <a:avLst/>
          </a:prstGeom>
          <a:noFill/>
          <a:ln/>
        </p:spPr>
        <p:txBody>
          <a:bodyPr wrap="square" rtlCol="0" anchor="ctr"/>
          <a:lstStyle/>
          <a:p>
            <a:pPr marL="0" indent="0">
              <a:lnSpc>
                <a:spcPct val="115000"/>
              </a:lnSpc>
              <a:buNone/>
            </a:pPr>
            <a:r>
              <a:rPr lang="en-US" sz="1250" dirty="0">
                <a:solidFill>
                  <a:srgbClr val="2A3350"/>
                </a:solidFill>
                <a:latin typeface="Calibri" pitchFamily="34" charset="0"/>
                <a:ea typeface="Calibri" pitchFamily="34" charset="-122"/>
                <a:cs typeface="Calibri" pitchFamily="34" charset="-120"/>
              </a:rPr>
              <a:t>Balance maintained through rotations after insert/delete</a:t>
            </a:r>
            <a:endParaRPr lang="en-US" sz="1250" dirty="0"/>
          </a:p>
        </p:txBody>
      </p:sp>
      <p:sp>
        <p:nvSpPr>
          <p:cNvPr id="15" name="Shape 12"/>
          <p:cNvSpPr/>
          <p:nvPr/>
        </p:nvSpPr>
        <p:spPr>
          <a:xfrm>
            <a:off x="822960" y="3867912"/>
            <a:ext cx="128016" cy="128016"/>
          </a:xfrm>
          <a:prstGeom prst="ellipse">
            <a:avLst/>
          </a:prstGeom>
          <a:solidFill>
            <a:srgbClr val="FFC145"/>
          </a:solidFill>
          <a:ln/>
        </p:spPr>
      </p:sp>
      <p:sp>
        <p:nvSpPr>
          <p:cNvPr id="16" name="Text 13"/>
          <p:cNvSpPr/>
          <p:nvPr/>
        </p:nvSpPr>
        <p:spPr>
          <a:xfrm>
            <a:off x="1078992" y="3739896"/>
            <a:ext cx="3794760" cy="594360"/>
          </a:xfrm>
          <a:prstGeom prst="rect">
            <a:avLst/>
          </a:prstGeom>
          <a:noFill/>
          <a:ln/>
        </p:spPr>
        <p:txBody>
          <a:bodyPr wrap="square" rtlCol="0" anchor="ctr"/>
          <a:lstStyle/>
          <a:p>
            <a:pPr marL="0" indent="0">
              <a:lnSpc>
                <a:spcPct val="115000"/>
              </a:lnSpc>
              <a:buNone/>
            </a:pPr>
            <a:r>
              <a:rPr lang="en-US" sz="1250" dirty="0">
                <a:solidFill>
                  <a:srgbClr val="2A3350"/>
                </a:solidFill>
                <a:latin typeface="Calibri" pitchFamily="34" charset="0"/>
                <a:ea typeface="Calibri" pitchFamily="34" charset="-122"/>
                <a:cs typeface="Calibri" pitchFamily="34" charset="-120"/>
              </a:rPr>
              <a:t>Height difference between left &amp; right subtrees stays ≤ 1</a:t>
            </a:r>
            <a:endParaRPr lang="en-US" sz="1250" dirty="0"/>
          </a:p>
        </p:txBody>
      </p:sp>
      <p:sp>
        <p:nvSpPr>
          <p:cNvPr id="17" name="Shape 14"/>
          <p:cNvSpPr/>
          <p:nvPr/>
        </p:nvSpPr>
        <p:spPr>
          <a:xfrm>
            <a:off x="822960" y="4617720"/>
            <a:ext cx="128016" cy="128016"/>
          </a:xfrm>
          <a:prstGeom prst="ellipse">
            <a:avLst/>
          </a:prstGeom>
          <a:solidFill>
            <a:srgbClr val="FFC145"/>
          </a:solidFill>
          <a:ln/>
        </p:spPr>
      </p:sp>
      <p:sp>
        <p:nvSpPr>
          <p:cNvPr id="18" name="Text 15"/>
          <p:cNvSpPr/>
          <p:nvPr/>
        </p:nvSpPr>
        <p:spPr>
          <a:xfrm>
            <a:off x="1078992" y="4489704"/>
            <a:ext cx="3794760" cy="594360"/>
          </a:xfrm>
          <a:prstGeom prst="rect">
            <a:avLst/>
          </a:prstGeom>
          <a:noFill/>
          <a:ln/>
        </p:spPr>
        <p:txBody>
          <a:bodyPr wrap="square" rtlCol="0" anchor="ctr"/>
          <a:lstStyle/>
          <a:p>
            <a:pPr marL="0" indent="0">
              <a:lnSpc>
                <a:spcPct val="115000"/>
              </a:lnSpc>
              <a:buNone/>
            </a:pPr>
            <a:r>
              <a:rPr lang="en-US" sz="1250" dirty="0">
                <a:solidFill>
                  <a:srgbClr val="2A3350"/>
                </a:solidFill>
                <a:latin typeface="Calibri" pitchFamily="34" charset="0"/>
                <a:ea typeface="Calibri" pitchFamily="34" charset="-122"/>
                <a:cs typeface="Calibri" pitchFamily="34" charset="-120"/>
              </a:rPr>
              <a:t>Guarantees O(log n) search, insert, and delete</a:t>
            </a:r>
            <a:endParaRPr lang="en-US" sz="1250" dirty="0"/>
          </a:p>
        </p:txBody>
      </p:sp>
      <p:sp>
        <p:nvSpPr>
          <p:cNvPr id="19" name="Shape 16"/>
          <p:cNvSpPr/>
          <p:nvPr/>
        </p:nvSpPr>
        <p:spPr>
          <a:xfrm>
            <a:off x="777240" y="5486400"/>
            <a:ext cx="3931920" cy="594360"/>
          </a:xfrm>
          <a:prstGeom prst="roundRect">
            <a:avLst>
              <a:gd name="adj" fmla="val 12308"/>
            </a:avLst>
          </a:prstGeom>
          <a:solidFill>
            <a:srgbClr val="1E2761"/>
          </a:solidFill>
          <a:ln/>
        </p:spPr>
      </p:sp>
      <p:sp>
        <p:nvSpPr>
          <p:cNvPr id="20" name="Text 17"/>
          <p:cNvSpPr/>
          <p:nvPr/>
        </p:nvSpPr>
        <p:spPr>
          <a:xfrm>
            <a:off x="868680" y="5486400"/>
            <a:ext cx="3749040" cy="594360"/>
          </a:xfrm>
          <a:prstGeom prst="rect">
            <a:avLst/>
          </a:prstGeom>
          <a:noFill/>
          <a:ln/>
        </p:spPr>
        <p:txBody>
          <a:bodyPr wrap="square" rtlCol="0" anchor="ctr"/>
          <a:lstStyle/>
          <a:p>
            <a:pPr marL="0" indent="0">
              <a:buNone/>
            </a:pPr>
            <a:r>
              <a:rPr lang="en-US" sz="1150" i="1" dirty="0">
                <a:solidFill>
                  <a:srgbClr val="CADCFC"/>
                </a:solidFill>
                <a:latin typeface="Calibri" pitchFamily="34" charset="0"/>
                <a:ea typeface="Calibri" pitchFamily="34" charset="-122"/>
                <a:cs typeface="Calibri" pitchFamily="34" charset="-120"/>
              </a:rPr>
              <a:t>Used here to index file keys for fast single-key lookup</a:t>
            </a:r>
            <a:endParaRPr lang="en-US" sz="1150" dirty="0"/>
          </a:p>
        </p:txBody>
      </p:sp>
      <p:sp>
        <p:nvSpPr>
          <p:cNvPr id="21" name="Shape 18"/>
          <p:cNvSpPr/>
          <p:nvPr/>
        </p:nvSpPr>
        <p:spPr>
          <a:xfrm flipH="1">
            <a:off x="7351776" y="2093976"/>
            <a:ext cx="1463040" cy="1005840"/>
          </a:xfrm>
          <a:prstGeom prst="line">
            <a:avLst/>
          </a:prstGeom>
          <a:noFill/>
          <a:ln w="25400">
            <a:solidFill>
              <a:srgbClr val="CADCFC"/>
            </a:solidFill>
            <a:prstDash val="solid"/>
          </a:ln>
        </p:spPr>
      </p:sp>
      <p:sp>
        <p:nvSpPr>
          <p:cNvPr id="22" name="Shape 19"/>
          <p:cNvSpPr/>
          <p:nvPr/>
        </p:nvSpPr>
        <p:spPr>
          <a:xfrm>
            <a:off x="8814816" y="2093976"/>
            <a:ext cx="1463040" cy="1005840"/>
          </a:xfrm>
          <a:prstGeom prst="line">
            <a:avLst/>
          </a:prstGeom>
          <a:noFill/>
          <a:ln w="25400">
            <a:solidFill>
              <a:srgbClr val="CADCFC"/>
            </a:solidFill>
            <a:prstDash val="solid"/>
          </a:ln>
        </p:spPr>
      </p:sp>
      <p:sp>
        <p:nvSpPr>
          <p:cNvPr id="23" name="Shape 20"/>
          <p:cNvSpPr/>
          <p:nvPr/>
        </p:nvSpPr>
        <p:spPr>
          <a:xfrm flipH="1">
            <a:off x="6620256" y="3099816"/>
            <a:ext cx="731520" cy="1005840"/>
          </a:xfrm>
          <a:prstGeom prst="line">
            <a:avLst/>
          </a:prstGeom>
          <a:noFill/>
          <a:ln w="25400">
            <a:solidFill>
              <a:srgbClr val="CADCFC"/>
            </a:solidFill>
            <a:prstDash val="solid"/>
          </a:ln>
        </p:spPr>
      </p:sp>
      <p:sp>
        <p:nvSpPr>
          <p:cNvPr id="24" name="Shape 21"/>
          <p:cNvSpPr/>
          <p:nvPr/>
        </p:nvSpPr>
        <p:spPr>
          <a:xfrm>
            <a:off x="7351776" y="3099816"/>
            <a:ext cx="731520" cy="1005840"/>
          </a:xfrm>
          <a:prstGeom prst="line">
            <a:avLst/>
          </a:prstGeom>
          <a:noFill/>
          <a:ln w="25400">
            <a:solidFill>
              <a:srgbClr val="CADCFC"/>
            </a:solidFill>
            <a:prstDash val="solid"/>
          </a:ln>
        </p:spPr>
      </p:sp>
      <p:sp>
        <p:nvSpPr>
          <p:cNvPr id="25" name="Shape 22"/>
          <p:cNvSpPr/>
          <p:nvPr/>
        </p:nvSpPr>
        <p:spPr>
          <a:xfrm flipH="1">
            <a:off x="9546336" y="3099816"/>
            <a:ext cx="731520" cy="1005840"/>
          </a:xfrm>
          <a:prstGeom prst="line">
            <a:avLst/>
          </a:prstGeom>
          <a:noFill/>
          <a:ln w="25400">
            <a:solidFill>
              <a:srgbClr val="CADCFC"/>
            </a:solidFill>
            <a:prstDash val="solid"/>
          </a:ln>
        </p:spPr>
      </p:sp>
      <p:sp>
        <p:nvSpPr>
          <p:cNvPr id="26" name="Shape 23"/>
          <p:cNvSpPr/>
          <p:nvPr/>
        </p:nvSpPr>
        <p:spPr>
          <a:xfrm>
            <a:off x="10277856" y="3099816"/>
            <a:ext cx="731520" cy="1005840"/>
          </a:xfrm>
          <a:prstGeom prst="line">
            <a:avLst/>
          </a:prstGeom>
          <a:noFill/>
          <a:ln w="25400">
            <a:solidFill>
              <a:srgbClr val="CADCFC"/>
            </a:solidFill>
            <a:prstDash val="solid"/>
          </a:ln>
        </p:spPr>
      </p:sp>
      <p:sp>
        <p:nvSpPr>
          <p:cNvPr id="27" name="Shape 24"/>
          <p:cNvSpPr/>
          <p:nvPr/>
        </p:nvSpPr>
        <p:spPr>
          <a:xfrm>
            <a:off x="8503920" y="1783080"/>
            <a:ext cx="621792" cy="621792"/>
          </a:xfrm>
          <a:prstGeom prst="ellipse">
            <a:avLst/>
          </a:prstGeom>
          <a:solidFill>
            <a:srgbClr val="1E2761"/>
          </a:solidFill>
          <a:ln w="25400">
            <a:solidFill>
              <a:srgbClr val="FFFFFF"/>
            </a:solidFill>
            <a:prstDash val="solid"/>
          </a:ln>
        </p:spPr>
      </p:sp>
      <p:sp>
        <p:nvSpPr>
          <p:cNvPr id="28" name="Text 25"/>
          <p:cNvSpPr/>
          <p:nvPr/>
        </p:nvSpPr>
        <p:spPr>
          <a:xfrm>
            <a:off x="8503920" y="1783080"/>
            <a:ext cx="621792" cy="62179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30</a:t>
            </a:r>
            <a:endParaRPr lang="en-US" sz="1300" dirty="0"/>
          </a:p>
        </p:txBody>
      </p:sp>
      <p:sp>
        <p:nvSpPr>
          <p:cNvPr id="29" name="Shape 26"/>
          <p:cNvSpPr/>
          <p:nvPr/>
        </p:nvSpPr>
        <p:spPr>
          <a:xfrm>
            <a:off x="7040880" y="2788920"/>
            <a:ext cx="621792" cy="621792"/>
          </a:xfrm>
          <a:prstGeom prst="ellipse">
            <a:avLst/>
          </a:prstGeom>
          <a:solidFill>
            <a:srgbClr val="1E2761"/>
          </a:solidFill>
          <a:ln w="25400">
            <a:solidFill>
              <a:srgbClr val="FFFFFF"/>
            </a:solidFill>
            <a:prstDash val="solid"/>
          </a:ln>
        </p:spPr>
      </p:sp>
      <p:sp>
        <p:nvSpPr>
          <p:cNvPr id="30" name="Text 27"/>
          <p:cNvSpPr/>
          <p:nvPr/>
        </p:nvSpPr>
        <p:spPr>
          <a:xfrm>
            <a:off x="7040880" y="2788920"/>
            <a:ext cx="621792" cy="62179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15</a:t>
            </a:r>
            <a:endParaRPr lang="en-US" sz="1300" dirty="0"/>
          </a:p>
        </p:txBody>
      </p:sp>
      <p:sp>
        <p:nvSpPr>
          <p:cNvPr id="31" name="Shape 28"/>
          <p:cNvSpPr/>
          <p:nvPr/>
        </p:nvSpPr>
        <p:spPr>
          <a:xfrm>
            <a:off x="9966960" y="2788920"/>
            <a:ext cx="621792" cy="621792"/>
          </a:xfrm>
          <a:prstGeom prst="ellipse">
            <a:avLst/>
          </a:prstGeom>
          <a:solidFill>
            <a:srgbClr val="1E2761"/>
          </a:solidFill>
          <a:ln w="25400">
            <a:solidFill>
              <a:srgbClr val="FFFFFF"/>
            </a:solidFill>
            <a:prstDash val="solid"/>
          </a:ln>
        </p:spPr>
      </p:sp>
      <p:sp>
        <p:nvSpPr>
          <p:cNvPr id="32" name="Text 29"/>
          <p:cNvSpPr/>
          <p:nvPr/>
        </p:nvSpPr>
        <p:spPr>
          <a:xfrm>
            <a:off x="9966960" y="2788920"/>
            <a:ext cx="621792" cy="62179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45</a:t>
            </a:r>
            <a:endParaRPr lang="en-US" sz="1300" dirty="0"/>
          </a:p>
        </p:txBody>
      </p:sp>
      <p:sp>
        <p:nvSpPr>
          <p:cNvPr id="33" name="Shape 30"/>
          <p:cNvSpPr/>
          <p:nvPr/>
        </p:nvSpPr>
        <p:spPr>
          <a:xfrm>
            <a:off x="6309360" y="3794760"/>
            <a:ext cx="621792" cy="621792"/>
          </a:xfrm>
          <a:prstGeom prst="ellipse">
            <a:avLst/>
          </a:prstGeom>
          <a:solidFill>
            <a:srgbClr val="1E2761"/>
          </a:solidFill>
          <a:ln w="25400">
            <a:solidFill>
              <a:srgbClr val="FFFFFF"/>
            </a:solidFill>
            <a:prstDash val="solid"/>
          </a:ln>
        </p:spPr>
      </p:sp>
      <p:sp>
        <p:nvSpPr>
          <p:cNvPr id="34" name="Text 31"/>
          <p:cNvSpPr/>
          <p:nvPr/>
        </p:nvSpPr>
        <p:spPr>
          <a:xfrm>
            <a:off x="6309360" y="3794760"/>
            <a:ext cx="621792" cy="62179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35" name="Shape 32"/>
          <p:cNvSpPr/>
          <p:nvPr/>
        </p:nvSpPr>
        <p:spPr>
          <a:xfrm>
            <a:off x="7772400" y="3794760"/>
            <a:ext cx="621792" cy="621792"/>
          </a:xfrm>
          <a:prstGeom prst="ellipse">
            <a:avLst/>
          </a:prstGeom>
          <a:solidFill>
            <a:srgbClr val="1E2761"/>
          </a:solidFill>
          <a:ln w="25400">
            <a:solidFill>
              <a:srgbClr val="FFFFFF"/>
            </a:solidFill>
            <a:prstDash val="solid"/>
          </a:ln>
        </p:spPr>
      </p:sp>
      <p:sp>
        <p:nvSpPr>
          <p:cNvPr id="36" name="Text 33"/>
          <p:cNvSpPr/>
          <p:nvPr/>
        </p:nvSpPr>
        <p:spPr>
          <a:xfrm>
            <a:off x="7772400" y="3794760"/>
            <a:ext cx="621792" cy="62179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22</a:t>
            </a:r>
            <a:endParaRPr lang="en-US" sz="1300" dirty="0"/>
          </a:p>
        </p:txBody>
      </p:sp>
      <p:sp>
        <p:nvSpPr>
          <p:cNvPr id="37" name="Shape 34"/>
          <p:cNvSpPr/>
          <p:nvPr/>
        </p:nvSpPr>
        <p:spPr>
          <a:xfrm>
            <a:off x="9235440" y="3794760"/>
            <a:ext cx="621792" cy="621792"/>
          </a:xfrm>
          <a:prstGeom prst="ellipse">
            <a:avLst/>
          </a:prstGeom>
          <a:solidFill>
            <a:srgbClr val="1E2761"/>
          </a:solidFill>
          <a:ln w="25400">
            <a:solidFill>
              <a:srgbClr val="FFFFFF"/>
            </a:solidFill>
            <a:prstDash val="solid"/>
          </a:ln>
        </p:spPr>
      </p:sp>
      <p:sp>
        <p:nvSpPr>
          <p:cNvPr id="38" name="Text 35"/>
          <p:cNvSpPr/>
          <p:nvPr/>
        </p:nvSpPr>
        <p:spPr>
          <a:xfrm>
            <a:off x="9235440" y="3794760"/>
            <a:ext cx="621792" cy="62179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38</a:t>
            </a:r>
            <a:endParaRPr lang="en-US" sz="1300" dirty="0"/>
          </a:p>
        </p:txBody>
      </p:sp>
      <p:sp>
        <p:nvSpPr>
          <p:cNvPr id="39" name="Shape 36"/>
          <p:cNvSpPr/>
          <p:nvPr/>
        </p:nvSpPr>
        <p:spPr>
          <a:xfrm>
            <a:off x="10698480" y="3794760"/>
            <a:ext cx="621792" cy="621792"/>
          </a:xfrm>
          <a:prstGeom prst="ellipse">
            <a:avLst/>
          </a:prstGeom>
          <a:solidFill>
            <a:srgbClr val="1E2761"/>
          </a:solidFill>
          <a:ln w="25400">
            <a:solidFill>
              <a:srgbClr val="FFFFFF"/>
            </a:solidFill>
            <a:prstDash val="solid"/>
          </a:ln>
        </p:spPr>
      </p:sp>
      <p:sp>
        <p:nvSpPr>
          <p:cNvPr id="40" name="Text 37"/>
          <p:cNvSpPr/>
          <p:nvPr/>
        </p:nvSpPr>
        <p:spPr>
          <a:xfrm>
            <a:off x="10698480" y="3794760"/>
            <a:ext cx="621792" cy="62179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55</a:t>
            </a:r>
            <a:endParaRPr lang="en-US" sz="1300" dirty="0"/>
          </a:p>
        </p:txBody>
      </p:sp>
      <p:sp>
        <p:nvSpPr>
          <p:cNvPr id="41" name="Text 38"/>
          <p:cNvSpPr/>
          <p:nvPr/>
        </p:nvSpPr>
        <p:spPr>
          <a:xfrm>
            <a:off x="5486400" y="4572000"/>
            <a:ext cx="6035040" cy="320040"/>
          </a:xfrm>
          <a:prstGeom prst="rect">
            <a:avLst/>
          </a:prstGeom>
          <a:noFill/>
          <a:ln/>
        </p:spPr>
        <p:txBody>
          <a:bodyPr wrap="square" rtlCol="0" anchor="ctr"/>
          <a:lstStyle/>
          <a:p>
            <a:pPr marL="0" indent="0" algn="ctr">
              <a:buNone/>
            </a:pPr>
            <a:r>
              <a:rPr lang="en-US" sz="1100" i="1" dirty="0">
                <a:solidFill>
                  <a:srgbClr val="5A6B87"/>
                </a:solidFill>
                <a:latin typeface="Calibri" pitchFamily="34" charset="0"/>
                <a:ea typeface="Calibri" pitchFamily="34" charset="-122"/>
                <a:cs typeface="Calibri" pitchFamily="34" charset="-120"/>
              </a:rPr>
              <a:t>Balanced at every level — height difference never exceeds 1</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CADCFC"/>
          </a:solidFill>
          <a:ln/>
        </p:spPr>
      </p:sp>
      <p:pic>
        <p:nvPicPr>
          <p:cNvPr id="3" name="Image 0" descr="/home/claude/proj/icons/sitemap.png"/>
          <p:cNvPicPr>
            <a:picLocks noChangeAspect="1"/>
          </p:cNvPicPr>
          <p:nvPr/>
        </p:nvPicPr>
        <p:blipFill>
          <a:blip r:embed="rId3"/>
          <a:stretch>
            <a:fillRect/>
          </a:stretch>
        </p:blipFill>
        <p:spPr>
          <a:xfrm>
            <a:off x="630479" y="584759"/>
            <a:ext cx="311810" cy="311810"/>
          </a:xfrm>
          <a:prstGeom prst="rect">
            <a:avLst/>
          </a:prstGeom>
        </p:spPr>
      </p:pic>
      <p:sp>
        <p:nvSpPr>
          <p:cNvPr id="4" name="Text 1"/>
          <p:cNvSpPr/>
          <p:nvPr/>
        </p:nvSpPr>
        <p:spPr>
          <a:xfrm>
            <a:off x="1234440" y="402336"/>
            <a:ext cx="7315200" cy="274320"/>
          </a:xfrm>
          <a:prstGeom prst="rect">
            <a:avLst/>
          </a:prstGeom>
          <a:noFill/>
          <a:ln/>
        </p:spPr>
        <p:txBody>
          <a:bodyPr wrap="square" rtlCol="0" anchor="ctr"/>
          <a:lstStyle/>
          <a:p>
            <a:pPr marL="0" indent="0">
              <a:buNone/>
            </a:pPr>
            <a:r>
              <a:rPr lang="en-US" sz="1200" b="1" kern="0" spc="200" dirty="0">
                <a:solidFill>
                  <a:srgbClr val="5A6B87"/>
                </a:solidFill>
                <a:latin typeface="Calibri" pitchFamily="34" charset="0"/>
                <a:ea typeface="Calibri" pitchFamily="34" charset="-122"/>
                <a:cs typeface="Calibri" pitchFamily="34" charset="-120"/>
              </a:rPr>
              <a:t>BALANCED MULTI-WAY SEARCH TREE</a:t>
            </a:r>
            <a:endParaRPr lang="en-US" sz="1200" dirty="0"/>
          </a:p>
        </p:txBody>
      </p:sp>
      <p:sp>
        <p:nvSpPr>
          <p:cNvPr id="5" name="Text 2"/>
          <p:cNvSpPr/>
          <p:nvPr/>
        </p:nvSpPr>
        <p:spPr>
          <a:xfrm>
            <a:off x="1234440" y="640080"/>
            <a:ext cx="9601200" cy="50292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Methodology — B-Tree</a:t>
            </a:r>
            <a:endParaRPr lang="en-US" sz="3000" dirty="0"/>
          </a:p>
        </p:txBody>
      </p:sp>
      <p:sp>
        <p:nvSpPr>
          <p:cNvPr id="6" name="Shape 3"/>
          <p:cNvSpPr/>
          <p:nvPr/>
        </p:nvSpPr>
        <p:spPr>
          <a:xfrm>
            <a:off x="502920" y="1298448"/>
            <a:ext cx="11183112" cy="0"/>
          </a:xfrm>
          <a:prstGeom prst="line">
            <a:avLst/>
          </a:prstGeom>
          <a:noFill/>
          <a:ln w="15875">
            <a:solidFill>
              <a:srgbClr val="E3E8F2"/>
            </a:solidFill>
            <a:prstDash val="solid"/>
          </a:ln>
        </p:spPr>
      </p:sp>
      <p:sp>
        <p:nvSpPr>
          <p:cNvPr id="7" name="Text 4"/>
          <p:cNvSpPr/>
          <p:nvPr/>
        </p:nvSpPr>
        <p:spPr>
          <a:xfrm>
            <a:off x="502920" y="6528816"/>
            <a:ext cx="7315200" cy="274320"/>
          </a:xfrm>
          <a:prstGeom prst="rect">
            <a:avLst/>
          </a:prstGeom>
          <a:noFill/>
          <a:ln/>
        </p:spPr>
        <p:txBody>
          <a:bodyPr wrap="square" rtlCol="0" anchor="ctr"/>
          <a:lstStyle/>
          <a:p>
            <a:pPr marL="0" indent="0">
              <a:buNone/>
            </a:pPr>
            <a:r>
              <a:rPr lang="en-US" sz="900" dirty="0">
                <a:solidFill>
                  <a:srgbClr val="5A6B87"/>
                </a:solidFill>
                <a:latin typeface="Calibri" pitchFamily="34" charset="0"/>
                <a:ea typeface="Calibri" pitchFamily="34" charset="-122"/>
                <a:cs typeface="Calibri" pitchFamily="34" charset="-120"/>
              </a:rPr>
              <a:t>Mini Search Engine  |  AVL Tree &amp; B-Tree Indexing</a:t>
            </a:r>
            <a:endParaRPr lang="en-US" sz="900" dirty="0"/>
          </a:p>
        </p:txBody>
      </p:sp>
      <p:sp>
        <p:nvSpPr>
          <p:cNvPr id="8" name="Text 5"/>
          <p:cNvSpPr/>
          <p:nvPr/>
        </p:nvSpPr>
        <p:spPr>
          <a:xfrm>
            <a:off x="11521440" y="6528816"/>
            <a:ext cx="365760" cy="274320"/>
          </a:xfrm>
          <a:prstGeom prst="rect">
            <a:avLst/>
          </a:prstGeom>
          <a:noFill/>
          <a:ln/>
        </p:spPr>
        <p:txBody>
          <a:bodyPr wrap="square" rtlCol="0" anchor="ctr"/>
          <a:lstStyle/>
          <a:p>
            <a:pPr marL="0" indent="0" algn="r">
              <a:buNone/>
            </a:pPr>
            <a:r>
              <a:rPr lang="en-US" sz="900" dirty="0">
                <a:solidFill>
                  <a:srgbClr val="5A6B87"/>
                </a:solidFill>
                <a:latin typeface="Calibri" pitchFamily="34" charset="0"/>
                <a:ea typeface="Calibri" pitchFamily="34" charset="-122"/>
                <a:cs typeface="Calibri" pitchFamily="34" charset="-120"/>
              </a:rPr>
              <a:t>8</a:t>
            </a:r>
            <a:endParaRPr lang="en-US" sz="900" dirty="0"/>
          </a:p>
        </p:txBody>
      </p:sp>
      <p:sp>
        <p:nvSpPr>
          <p:cNvPr id="9" name="Shape 6"/>
          <p:cNvSpPr/>
          <p:nvPr/>
        </p:nvSpPr>
        <p:spPr>
          <a:xfrm>
            <a:off x="502920" y="1600200"/>
            <a:ext cx="4480560" cy="4663440"/>
          </a:xfrm>
          <a:prstGeom prst="roundRect">
            <a:avLst>
              <a:gd name="adj" fmla="val 2449"/>
            </a:avLst>
          </a:prstGeom>
          <a:solidFill>
            <a:srgbClr val="F3F6FC"/>
          </a:solidFill>
          <a:ln/>
        </p:spPr>
      </p:sp>
      <p:sp>
        <p:nvSpPr>
          <p:cNvPr id="10" name="Text 7"/>
          <p:cNvSpPr/>
          <p:nvPr/>
        </p:nvSpPr>
        <p:spPr>
          <a:xfrm>
            <a:off x="777240" y="1828800"/>
            <a:ext cx="3931920" cy="365760"/>
          </a:xfrm>
          <a:prstGeom prst="rect">
            <a:avLst/>
          </a:prstGeom>
          <a:noFill/>
          <a:ln/>
        </p:spPr>
        <p:txBody>
          <a:bodyPr wrap="square"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Key Properties</a:t>
            </a:r>
            <a:endParaRPr lang="en-US" sz="1600" dirty="0"/>
          </a:p>
        </p:txBody>
      </p:sp>
      <p:sp>
        <p:nvSpPr>
          <p:cNvPr id="11" name="Shape 8"/>
          <p:cNvSpPr/>
          <p:nvPr/>
        </p:nvSpPr>
        <p:spPr>
          <a:xfrm>
            <a:off x="822960" y="2368296"/>
            <a:ext cx="128016" cy="128016"/>
          </a:xfrm>
          <a:prstGeom prst="ellipse">
            <a:avLst/>
          </a:prstGeom>
          <a:solidFill>
            <a:srgbClr val="FFC145"/>
          </a:solidFill>
          <a:ln/>
        </p:spPr>
      </p:sp>
      <p:sp>
        <p:nvSpPr>
          <p:cNvPr id="12" name="Text 9"/>
          <p:cNvSpPr/>
          <p:nvPr/>
        </p:nvSpPr>
        <p:spPr>
          <a:xfrm>
            <a:off x="1078992" y="2240280"/>
            <a:ext cx="3794760" cy="594360"/>
          </a:xfrm>
          <a:prstGeom prst="rect">
            <a:avLst/>
          </a:prstGeom>
          <a:noFill/>
          <a:ln/>
        </p:spPr>
        <p:txBody>
          <a:bodyPr wrap="square" rtlCol="0" anchor="ctr"/>
          <a:lstStyle/>
          <a:p>
            <a:pPr marL="0" indent="0">
              <a:lnSpc>
                <a:spcPct val="115000"/>
              </a:lnSpc>
              <a:buNone/>
            </a:pPr>
            <a:r>
              <a:rPr lang="en-US" sz="1250" dirty="0">
                <a:solidFill>
                  <a:srgbClr val="2A3350"/>
                </a:solidFill>
                <a:latin typeface="Calibri" pitchFamily="34" charset="0"/>
                <a:ea typeface="Calibri" pitchFamily="34" charset="-122"/>
                <a:cs typeface="Calibri" pitchFamily="34" charset="-120"/>
              </a:rPr>
              <a:t>Balanced, multi-way search tree (each node holds multiple keys)</a:t>
            </a:r>
            <a:endParaRPr lang="en-US" sz="1250" dirty="0"/>
          </a:p>
        </p:txBody>
      </p:sp>
      <p:sp>
        <p:nvSpPr>
          <p:cNvPr id="13" name="Shape 10"/>
          <p:cNvSpPr/>
          <p:nvPr/>
        </p:nvSpPr>
        <p:spPr>
          <a:xfrm>
            <a:off x="822960" y="3118104"/>
            <a:ext cx="128016" cy="128016"/>
          </a:xfrm>
          <a:prstGeom prst="ellipse">
            <a:avLst/>
          </a:prstGeom>
          <a:solidFill>
            <a:srgbClr val="FFC145"/>
          </a:solidFill>
          <a:ln/>
        </p:spPr>
      </p:sp>
      <p:sp>
        <p:nvSpPr>
          <p:cNvPr id="14" name="Text 11"/>
          <p:cNvSpPr/>
          <p:nvPr/>
        </p:nvSpPr>
        <p:spPr>
          <a:xfrm>
            <a:off x="1078992" y="2990088"/>
            <a:ext cx="3794760" cy="594360"/>
          </a:xfrm>
          <a:prstGeom prst="rect">
            <a:avLst/>
          </a:prstGeom>
          <a:noFill/>
          <a:ln/>
        </p:spPr>
        <p:txBody>
          <a:bodyPr wrap="square" rtlCol="0" anchor="ctr"/>
          <a:lstStyle/>
          <a:p>
            <a:pPr marL="0" indent="0">
              <a:lnSpc>
                <a:spcPct val="115000"/>
              </a:lnSpc>
              <a:buNone/>
            </a:pPr>
            <a:r>
              <a:rPr lang="en-US" sz="1250" dirty="0">
                <a:solidFill>
                  <a:srgbClr val="2A3350"/>
                </a:solidFill>
                <a:latin typeface="Calibri" pitchFamily="34" charset="0"/>
                <a:ea typeface="Calibri" pitchFamily="34" charset="-122"/>
                <a:cs typeface="Calibri" pitchFamily="34" charset="-120"/>
              </a:rPr>
              <a:t>All leaf nodes lie at the same depth</a:t>
            </a:r>
            <a:endParaRPr lang="en-US" sz="1250" dirty="0"/>
          </a:p>
        </p:txBody>
      </p:sp>
      <p:sp>
        <p:nvSpPr>
          <p:cNvPr id="15" name="Shape 12"/>
          <p:cNvSpPr/>
          <p:nvPr/>
        </p:nvSpPr>
        <p:spPr>
          <a:xfrm>
            <a:off x="822960" y="3867912"/>
            <a:ext cx="128016" cy="128016"/>
          </a:xfrm>
          <a:prstGeom prst="ellipse">
            <a:avLst/>
          </a:prstGeom>
          <a:solidFill>
            <a:srgbClr val="FFC145"/>
          </a:solidFill>
          <a:ln/>
        </p:spPr>
      </p:sp>
      <p:sp>
        <p:nvSpPr>
          <p:cNvPr id="16" name="Text 13"/>
          <p:cNvSpPr/>
          <p:nvPr/>
        </p:nvSpPr>
        <p:spPr>
          <a:xfrm>
            <a:off x="1078992" y="3739896"/>
            <a:ext cx="3794760" cy="594360"/>
          </a:xfrm>
          <a:prstGeom prst="rect">
            <a:avLst/>
          </a:prstGeom>
          <a:noFill/>
          <a:ln/>
        </p:spPr>
        <p:txBody>
          <a:bodyPr wrap="square" rtlCol="0" anchor="ctr"/>
          <a:lstStyle/>
          <a:p>
            <a:pPr marL="0" indent="0">
              <a:lnSpc>
                <a:spcPct val="115000"/>
              </a:lnSpc>
              <a:buNone/>
            </a:pPr>
            <a:r>
              <a:rPr lang="en-US" sz="1250" dirty="0">
                <a:solidFill>
                  <a:srgbClr val="2A3350"/>
                </a:solidFill>
                <a:latin typeface="Calibri" pitchFamily="34" charset="0"/>
                <a:ea typeface="Calibri" pitchFamily="34" charset="-122"/>
                <a:cs typeface="Calibri" pitchFamily="34" charset="-120"/>
              </a:rPr>
              <a:t>Well suited to large, disk-based or large-scale indexes</a:t>
            </a:r>
            <a:endParaRPr lang="en-US" sz="1250" dirty="0"/>
          </a:p>
        </p:txBody>
      </p:sp>
      <p:sp>
        <p:nvSpPr>
          <p:cNvPr id="17" name="Shape 14"/>
          <p:cNvSpPr/>
          <p:nvPr/>
        </p:nvSpPr>
        <p:spPr>
          <a:xfrm>
            <a:off x="822960" y="4617720"/>
            <a:ext cx="128016" cy="128016"/>
          </a:xfrm>
          <a:prstGeom prst="ellipse">
            <a:avLst/>
          </a:prstGeom>
          <a:solidFill>
            <a:srgbClr val="FFC145"/>
          </a:solidFill>
          <a:ln/>
        </p:spPr>
      </p:sp>
      <p:sp>
        <p:nvSpPr>
          <p:cNvPr id="18" name="Text 15"/>
          <p:cNvSpPr/>
          <p:nvPr/>
        </p:nvSpPr>
        <p:spPr>
          <a:xfrm>
            <a:off x="1078992" y="4489704"/>
            <a:ext cx="3794760" cy="594360"/>
          </a:xfrm>
          <a:prstGeom prst="rect">
            <a:avLst/>
          </a:prstGeom>
          <a:noFill/>
          <a:ln/>
        </p:spPr>
        <p:txBody>
          <a:bodyPr wrap="square" rtlCol="0" anchor="ctr"/>
          <a:lstStyle/>
          <a:p>
            <a:pPr marL="0" indent="0">
              <a:lnSpc>
                <a:spcPct val="115000"/>
              </a:lnSpc>
              <a:buNone/>
            </a:pPr>
            <a:r>
              <a:rPr lang="en-US" sz="1250" dirty="0">
                <a:solidFill>
                  <a:srgbClr val="2A3350"/>
                </a:solidFill>
                <a:latin typeface="Calibri" pitchFamily="34" charset="0"/>
                <a:ea typeface="Calibri" pitchFamily="34" charset="-122"/>
                <a:cs typeface="Calibri" pitchFamily="34" charset="-120"/>
              </a:rPr>
              <a:t>Guarantees O(log n) height and search time</a:t>
            </a:r>
            <a:endParaRPr lang="en-US" sz="1250" dirty="0"/>
          </a:p>
        </p:txBody>
      </p:sp>
      <p:sp>
        <p:nvSpPr>
          <p:cNvPr id="19" name="Shape 16"/>
          <p:cNvSpPr/>
          <p:nvPr/>
        </p:nvSpPr>
        <p:spPr>
          <a:xfrm>
            <a:off x="777240" y="5486400"/>
            <a:ext cx="3931920" cy="594360"/>
          </a:xfrm>
          <a:prstGeom prst="roundRect">
            <a:avLst>
              <a:gd name="adj" fmla="val 12308"/>
            </a:avLst>
          </a:prstGeom>
          <a:solidFill>
            <a:srgbClr val="1E2761"/>
          </a:solidFill>
          <a:ln/>
        </p:spPr>
      </p:sp>
      <p:sp>
        <p:nvSpPr>
          <p:cNvPr id="20" name="Text 17"/>
          <p:cNvSpPr/>
          <p:nvPr/>
        </p:nvSpPr>
        <p:spPr>
          <a:xfrm>
            <a:off x="868680" y="5486400"/>
            <a:ext cx="3749040" cy="594360"/>
          </a:xfrm>
          <a:prstGeom prst="rect">
            <a:avLst/>
          </a:prstGeom>
          <a:noFill/>
          <a:ln/>
        </p:spPr>
        <p:txBody>
          <a:bodyPr wrap="square" rtlCol="0" anchor="ctr"/>
          <a:lstStyle/>
          <a:p>
            <a:pPr marL="0" indent="0">
              <a:buNone/>
            </a:pPr>
            <a:r>
              <a:rPr lang="en-US" sz="1150" i="1" dirty="0">
                <a:solidFill>
                  <a:srgbClr val="CADCFC"/>
                </a:solidFill>
                <a:latin typeface="Calibri" pitchFamily="34" charset="0"/>
                <a:ea typeface="Calibri" pitchFamily="34" charset="-122"/>
                <a:cs typeface="Calibri" pitchFamily="34" charset="-120"/>
              </a:rPr>
              <a:t>Used here to index larger groups of files for fast range/bulk lookup</a:t>
            </a:r>
            <a:endParaRPr lang="en-US" sz="1150" dirty="0"/>
          </a:p>
        </p:txBody>
      </p:sp>
      <p:sp>
        <p:nvSpPr>
          <p:cNvPr id="21" name="Shape 18"/>
          <p:cNvSpPr/>
          <p:nvPr/>
        </p:nvSpPr>
        <p:spPr>
          <a:xfrm>
            <a:off x="8229600" y="1874520"/>
            <a:ext cx="731520" cy="502920"/>
          </a:xfrm>
          <a:prstGeom prst="rect">
            <a:avLst/>
          </a:prstGeom>
          <a:solidFill>
            <a:srgbClr val="1E2761"/>
          </a:solidFill>
          <a:ln w="19050">
            <a:solidFill>
              <a:srgbClr val="FFFFFF"/>
            </a:solidFill>
            <a:prstDash val="solid"/>
          </a:ln>
        </p:spPr>
      </p:sp>
      <p:sp>
        <p:nvSpPr>
          <p:cNvPr id="22" name="Text 19"/>
          <p:cNvSpPr/>
          <p:nvPr/>
        </p:nvSpPr>
        <p:spPr>
          <a:xfrm>
            <a:off x="8229600" y="1874520"/>
            <a:ext cx="731520" cy="50292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20</a:t>
            </a:r>
            <a:endParaRPr lang="en-US" sz="1300" dirty="0"/>
          </a:p>
        </p:txBody>
      </p:sp>
      <p:sp>
        <p:nvSpPr>
          <p:cNvPr id="23" name="Shape 20"/>
          <p:cNvSpPr/>
          <p:nvPr/>
        </p:nvSpPr>
        <p:spPr>
          <a:xfrm>
            <a:off x="8961120" y="1874520"/>
            <a:ext cx="731520" cy="502920"/>
          </a:xfrm>
          <a:prstGeom prst="rect">
            <a:avLst/>
          </a:prstGeom>
          <a:solidFill>
            <a:srgbClr val="1E2761"/>
          </a:solidFill>
          <a:ln w="19050">
            <a:solidFill>
              <a:srgbClr val="FFFFFF"/>
            </a:solidFill>
            <a:prstDash val="solid"/>
          </a:ln>
        </p:spPr>
      </p:sp>
      <p:sp>
        <p:nvSpPr>
          <p:cNvPr id="24" name="Text 21"/>
          <p:cNvSpPr/>
          <p:nvPr/>
        </p:nvSpPr>
        <p:spPr>
          <a:xfrm>
            <a:off x="8961120" y="1874520"/>
            <a:ext cx="731520" cy="50292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40</a:t>
            </a:r>
            <a:endParaRPr lang="en-US" sz="1300" dirty="0"/>
          </a:p>
        </p:txBody>
      </p:sp>
      <p:sp>
        <p:nvSpPr>
          <p:cNvPr id="25" name="Shape 22"/>
          <p:cNvSpPr/>
          <p:nvPr/>
        </p:nvSpPr>
        <p:spPr>
          <a:xfrm>
            <a:off x="5943600" y="3246120"/>
            <a:ext cx="685800" cy="502920"/>
          </a:xfrm>
          <a:prstGeom prst="rect">
            <a:avLst/>
          </a:prstGeom>
          <a:solidFill>
            <a:srgbClr val="1E2761"/>
          </a:solidFill>
          <a:ln w="19050">
            <a:solidFill>
              <a:srgbClr val="FFFFFF"/>
            </a:solidFill>
            <a:prstDash val="solid"/>
          </a:ln>
        </p:spPr>
      </p:sp>
      <p:sp>
        <p:nvSpPr>
          <p:cNvPr id="26" name="Text 23"/>
          <p:cNvSpPr/>
          <p:nvPr/>
        </p:nvSpPr>
        <p:spPr>
          <a:xfrm>
            <a:off x="5943600" y="3246120"/>
            <a:ext cx="685800" cy="50292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27" name="Shape 24"/>
          <p:cNvSpPr/>
          <p:nvPr/>
        </p:nvSpPr>
        <p:spPr>
          <a:xfrm>
            <a:off x="6629400" y="3246120"/>
            <a:ext cx="685800" cy="502920"/>
          </a:xfrm>
          <a:prstGeom prst="rect">
            <a:avLst/>
          </a:prstGeom>
          <a:solidFill>
            <a:srgbClr val="1E2761"/>
          </a:solidFill>
          <a:ln w="19050">
            <a:solidFill>
              <a:srgbClr val="FFFFFF"/>
            </a:solidFill>
            <a:prstDash val="solid"/>
          </a:ln>
        </p:spPr>
      </p:sp>
      <p:sp>
        <p:nvSpPr>
          <p:cNvPr id="28" name="Text 25"/>
          <p:cNvSpPr/>
          <p:nvPr/>
        </p:nvSpPr>
        <p:spPr>
          <a:xfrm>
            <a:off x="6629400" y="3246120"/>
            <a:ext cx="685800" cy="50292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29" name="Shape 26"/>
          <p:cNvSpPr/>
          <p:nvPr/>
        </p:nvSpPr>
        <p:spPr>
          <a:xfrm>
            <a:off x="8366760" y="3246120"/>
            <a:ext cx="685800" cy="502920"/>
          </a:xfrm>
          <a:prstGeom prst="rect">
            <a:avLst/>
          </a:prstGeom>
          <a:solidFill>
            <a:srgbClr val="1E2761"/>
          </a:solidFill>
          <a:ln w="19050">
            <a:solidFill>
              <a:srgbClr val="FFFFFF"/>
            </a:solidFill>
            <a:prstDash val="solid"/>
          </a:ln>
        </p:spPr>
      </p:sp>
      <p:sp>
        <p:nvSpPr>
          <p:cNvPr id="30" name="Text 27"/>
          <p:cNvSpPr/>
          <p:nvPr/>
        </p:nvSpPr>
        <p:spPr>
          <a:xfrm>
            <a:off x="8366760" y="3246120"/>
            <a:ext cx="685800" cy="50292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25</a:t>
            </a:r>
            <a:endParaRPr lang="en-US" sz="1300" dirty="0"/>
          </a:p>
        </p:txBody>
      </p:sp>
      <p:sp>
        <p:nvSpPr>
          <p:cNvPr id="31" name="Shape 28"/>
          <p:cNvSpPr/>
          <p:nvPr/>
        </p:nvSpPr>
        <p:spPr>
          <a:xfrm>
            <a:off x="9052560" y="3246120"/>
            <a:ext cx="685800" cy="502920"/>
          </a:xfrm>
          <a:prstGeom prst="rect">
            <a:avLst/>
          </a:prstGeom>
          <a:solidFill>
            <a:srgbClr val="1E2761"/>
          </a:solidFill>
          <a:ln w="19050">
            <a:solidFill>
              <a:srgbClr val="FFFFFF"/>
            </a:solidFill>
            <a:prstDash val="solid"/>
          </a:ln>
        </p:spPr>
      </p:sp>
      <p:sp>
        <p:nvSpPr>
          <p:cNvPr id="32" name="Text 29"/>
          <p:cNvSpPr/>
          <p:nvPr/>
        </p:nvSpPr>
        <p:spPr>
          <a:xfrm>
            <a:off x="9052560" y="3246120"/>
            <a:ext cx="685800" cy="50292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33</a:t>
            </a:r>
            <a:endParaRPr lang="en-US" sz="1300" dirty="0"/>
          </a:p>
        </p:txBody>
      </p:sp>
      <p:sp>
        <p:nvSpPr>
          <p:cNvPr id="33" name="Shape 30"/>
          <p:cNvSpPr/>
          <p:nvPr/>
        </p:nvSpPr>
        <p:spPr>
          <a:xfrm>
            <a:off x="10789920" y="3246120"/>
            <a:ext cx="685800" cy="502920"/>
          </a:xfrm>
          <a:prstGeom prst="rect">
            <a:avLst/>
          </a:prstGeom>
          <a:solidFill>
            <a:srgbClr val="1E2761"/>
          </a:solidFill>
          <a:ln w="19050">
            <a:solidFill>
              <a:srgbClr val="FFFFFF"/>
            </a:solidFill>
            <a:prstDash val="solid"/>
          </a:ln>
        </p:spPr>
      </p:sp>
      <p:sp>
        <p:nvSpPr>
          <p:cNvPr id="34" name="Text 31"/>
          <p:cNvSpPr/>
          <p:nvPr/>
        </p:nvSpPr>
        <p:spPr>
          <a:xfrm>
            <a:off x="10789920" y="3246120"/>
            <a:ext cx="685800" cy="50292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48</a:t>
            </a:r>
            <a:endParaRPr lang="en-US" sz="1300" dirty="0"/>
          </a:p>
        </p:txBody>
      </p:sp>
      <p:sp>
        <p:nvSpPr>
          <p:cNvPr id="35" name="Shape 32"/>
          <p:cNvSpPr/>
          <p:nvPr/>
        </p:nvSpPr>
        <p:spPr>
          <a:xfrm>
            <a:off x="11475720" y="3246120"/>
            <a:ext cx="685800" cy="502920"/>
          </a:xfrm>
          <a:prstGeom prst="rect">
            <a:avLst/>
          </a:prstGeom>
          <a:solidFill>
            <a:srgbClr val="1E2761"/>
          </a:solidFill>
          <a:ln w="19050">
            <a:solidFill>
              <a:srgbClr val="FFFFFF"/>
            </a:solidFill>
            <a:prstDash val="solid"/>
          </a:ln>
        </p:spPr>
      </p:sp>
      <p:sp>
        <p:nvSpPr>
          <p:cNvPr id="36" name="Text 33"/>
          <p:cNvSpPr/>
          <p:nvPr/>
        </p:nvSpPr>
        <p:spPr>
          <a:xfrm>
            <a:off x="11475720" y="3246120"/>
            <a:ext cx="685800" cy="50292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60</a:t>
            </a:r>
            <a:endParaRPr lang="en-US" sz="1300" dirty="0"/>
          </a:p>
        </p:txBody>
      </p:sp>
      <p:sp>
        <p:nvSpPr>
          <p:cNvPr id="37" name="Shape 34"/>
          <p:cNvSpPr/>
          <p:nvPr/>
        </p:nvSpPr>
        <p:spPr>
          <a:xfrm flipH="1">
            <a:off x="6629400" y="2377440"/>
            <a:ext cx="2331720" cy="868680"/>
          </a:xfrm>
          <a:prstGeom prst="line">
            <a:avLst/>
          </a:prstGeom>
          <a:noFill/>
          <a:ln w="25400">
            <a:solidFill>
              <a:srgbClr val="CADCFC"/>
            </a:solidFill>
            <a:prstDash val="solid"/>
          </a:ln>
        </p:spPr>
      </p:sp>
      <p:sp>
        <p:nvSpPr>
          <p:cNvPr id="38" name="Shape 35"/>
          <p:cNvSpPr/>
          <p:nvPr/>
        </p:nvSpPr>
        <p:spPr>
          <a:xfrm>
            <a:off x="8961120" y="2377440"/>
            <a:ext cx="91440" cy="868680"/>
          </a:xfrm>
          <a:prstGeom prst="line">
            <a:avLst/>
          </a:prstGeom>
          <a:noFill/>
          <a:ln w="25400">
            <a:solidFill>
              <a:srgbClr val="CADCFC"/>
            </a:solidFill>
            <a:prstDash val="solid"/>
          </a:ln>
        </p:spPr>
      </p:sp>
      <p:sp>
        <p:nvSpPr>
          <p:cNvPr id="39" name="Shape 36"/>
          <p:cNvSpPr/>
          <p:nvPr/>
        </p:nvSpPr>
        <p:spPr>
          <a:xfrm>
            <a:off x="8961120" y="2377440"/>
            <a:ext cx="2514600" cy="868680"/>
          </a:xfrm>
          <a:prstGeom prst="line">
            <a:avLst/>
          </a:prstGeom>
          <a:noFill/>
          <a:ln w="25400">
            <a:solidFill>
              <a:srgbClr val="CADCFC"/>
            </a:solidFill>
            <a:prstDash val="solid"/>
          </a:ln>
        </p:spPr>
      </p:sp>
      <p:sp>
        <p:nvSpPr>
          <p:cNvPr id="40" name="Text 37"/>
          <p:cNvSpPr/>
          <p:nvPr/>
        </p:nvSpPr>
        <p:spPr>
          <a:xfrm>
            <a:off x="5486400" y="4114800"/>
            <a:ext cx="6309360" cy="365760"/>
          </a:xfrm>
          <a:prstGeom prst="rect">
            <a:avLst/>
          </a:prstGeom>
          <a:noFill/>
          <a:ln/>
        </p:spPr>
        <p:txBody>
          <a:bodyPr wrap="square" rtlCol="0" anchor="ctr"/>
          <a:lstStyle/>
          <a:p>
            <a:pPr marL="0" indent="0" algn="ctr">
              <a:buNone/>
            </a:pPr>
            <a:r>
              <a:rPr lang="en-US" sz="1100" i="1" dirty="0">
                <a:solidFill>
                  <a:srgbClr val="5A6B87"/>
                </a:solidFill>
                <a:latin typeface="Calibri" pitchFamily="34" charset="0"/>
                <a:ea typeface="Calibri" pitchFamily="34" charset="-122"/>
                <a:cs typeface="Calibri" pitchFamily="34" charset="-120"/>
              </a:rPr>
              <a:t>Each node stores multiple sorted keys; the search narrows down which child to follow</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14400" y="914400"/>
            <a:ext cx="82296" cy="82296"/>
          </a:xfrm>
          <a:prstGeom prst="ellipse">
            <a:avLst/>
          </a:prstGeom>
          <a:solidFill>
            <a:srgbClr val="31407A"/>
          </a:solidFill>
          <a:ln/>
        </p:spPr>
      </p:sp>
      <p:sp>
        <p:nvSpPr>
          <p:cNvPr id="3" name="Shape 1"/>
          <p:cNvSpPr/>
          <p:nvPr/>
        </p:nvSpPr>
        <p:spPr>
          <a:xfrm>
            <a:off x="1463040" y="1463040"/>
            <a:ext cx="82296" cy="82296"/>
          </a:xfrm>
          <a:prstGeom prst="ellipse">
            <a:avLst/>
          </a:prstGeom>
          <a:solidFill>
            <a:srgbClr val="31407A"/>
          </a:solidFill>
          <a:ln/>
        </p:spPr>
      </p:sp>
      <p:sp>
        <p:nvSpPr>
          <p:cNvPr id="4" name="Shape 2"/>
          <p:cNvSpPr/>
          <p:nvPr/>
        </p:nvSpPr>
        <p:spPr>
          <a:xfrm>
            <a:off x="1005840" y="2194560"/>
            <a:ext cx="82296" cy="82296"/>
          </a:xfrm>
          <a:prstGeom prst="ellipse">
            <a:avLst/>
          </a:prstGeom>
          <a:solidFill>
            <a:srgbClr val="31407A"/>
          </a:solidFill>
          <a:ln/>
        </p:spPr>
      </p:sp>
      <p:sp>
        <p:nvSpPr>
          <p:cNvPr id="5" name="Shape 3"/>
          <p:cNvSpPr/>
          <p:nvPr/>
        </p:nvSpPr>
        <p:spPr>
          <a:xfrm>
            <a:off x="10424160" y="5120640"/>
            <a:ext cx="82296" cy="82296"/>
          </a:xfrm>
          <a:prstGeom prst="ellipse">
            <a:avLst/>
          </a:prstGeom>
          <a:solidFill>
            <a:srgbClr val="31407A"/>
          </a:solidFill>
          <a:ln/>
        </p:spPr>
      </p:sp>
      <p:sp>
        <p:nvSpPr>
          <p:cNvPr id="6" name="Shape 4"/>
          <p:cNvSpPr/>
          <p:nvPr/>
        </p:nvSpPr>
        <p:spPr>
          <a:xfrm>
            <a:off x="10972800" y="5669280"/>
            <a:ext cx="82296" cy="82296"/>
          </a:xfrm>
          <a:prstGeom prst="ellipse">
            <a:avLst/>
          </a:prstGeom>
          <a:solidFill>
            <a:srgbClr val="31407A"/>
          </a:solidFill>
          <a:ln/>
        </p:spPr>
      </p:sp>
      <p:sp>
        <p:nvSpPr>
          <p:cNvPr id="7" name="Shape 5"/>
          <p:cNvSpPr/>
          <p:nvPr/>
        </p:nvSpPr>
        <p:spPr>
          <a:xfrm>
            <a:off x="10058400" y="5394960"/>
            <a:ext cx="82296" cy="82296"/>
          </a:xfrm>
          <a:prstGeom prst="ellipse">
            <a:avLst/>
          </a:prstGeom>
          <a:solidFill>
            <a:srgbClr val="31407A"/>
          </a:solidFill>
          <a:ln/>
        </p:spPr>
      </p:sp>
      <p:sp>
        <p:nvSpPr>
          <p:cNvPr id="8" name="Shape 6"/>
          <p:cNvSpPr/>
          <p:nvPr/>
        </p:nvSpPr>
        <p:spPr>
          <a:xfrm>
            <a:off x="5637276" y="1463040"/>
            <a:ext cx="914400" cy="914400"/>
          </a:xfrm>
          <a:prstGeom prst="ellipse">
            <a:avLst/>
          </a:prstGeom>
          <a:solidFill>
            <a:srgbClr val="2A356B"/>
          </a:solidFill>
          <a:ln/>
        </p:spPr>
      </p:sp>
      <p:pic>
        <p:nvPicPr>
          <p:cNvPr id="9" name="Image 0" descr="/home/claude/proj/icons/checklist_white.png"/>
          <p:cNvPicPr>
            <a:picLocks noChangeAspect="1"/>
          </p:cNvPicPr>
          <p:nvPr/>
        </p:nvPicPr>
        <p:blipFill>
          <a:blip r:embed="rId3"/>
          <a:stretch>
            <a:fillRect/>
          </a:stretch>
        </p:blipFill>
        <p:spPr>
          <a:xfrm>
            <a:off x="5865876" y="1691640"/>
            <a:ext cx="457200" cy="457200"/>
          </a:xfrm>
          <a:prstGeom prst="rect">
            <a:avLst/>
          </a:prstGeom>
        </p:spPr>
      </p:pic>
      <p:sp>
        <p:nvSpPr>
          <p:cNvPr id="10" name="Text 7"/>
          <p:cNvSpPr/>
          <p:nvPr/>
        </p:nvSpPr>
        <p:spPr>
          <a:xfrm>
            <a:off x="457200" y="2606040"/>
            <a:ext cx="11274552" cy="822960"/>
          </a:xfrm>
          <a:prstGeom prst="rect">
            <a:avLst/>
          </a:prstGeom>
          <a:noFill/>
          <a:ln/>
        </p:spPr>
        <p:txBody>
          <a:bodyPr wrap="square"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11" name="Shape 8"/>
          <p:cNvSpPr/>
          <p:nvPr/>
        </p:nvSpPr>
        <p:spPr>
          <a:xfrm>
            <a:off x="5271516" y="3401568"/>
            <a:ext cx="1645920" cy="41148"/>
          </a:xfrm>
          <a:prstGeom prst="rect">
            <a:avLst/>
          </a:prstGeom>
          <a:solidFill>
            <a:srgbClr val="FFC145"/>
          </a:solidFill>
          <a:ln/>
        </p:spPr>
      </p:sp>
      <p:sp>
        <p:nvSpPr>
          <p:cNvPr id="12" name="Text 9"/>
          <p:cNvSpPr/>
          <p:nvPr/>
        </p:nvSpPr>
        <p:spPr>
          <a:xfrm>
            <a:off x="457200" y="3566160"/>
            <a:ext cx="11274552" cy="411480"/>
          </a:xfrm>
          <a:prstGeom prst="rect">
            <a:avLst/>
          </a:prstGeom>
          <a:noFill/>
          <a:ln/>
        </p:spPr>
        <p:txBody>
          <a:bodyPr wrap="square" rtlCol="0" anchor="ctr"/>
          <a:lstStyle/>
          <a:p>
            <a:pPr marL="0" indent="0" algn="ctr">
              <a:buNone/>
            </a:pPr>
            <a:r>
              <a:rPr lang="en-US" sz="1500" dirty="0">
                <a:solidFill>
                  <a:srgbClr val="CADCFC"/>
                </a:solidFill>
                <a:latin typeface="Calibri" pitchFamily="34" charset="0"/>
                <a:ea typeface="Calibri" pitchFamily="34" charset="-122"/>
                <a:cs typeface="Calibri" pitchFamily="34" charset="-120"/>
              </a:rPr>
              <a:t>Mini Search Engine — File Indexing and Search using AVL Tree and B-Tree</a:t>
            </a:r>
            <a:endParaRPr lang="en-US" sz="1500" dirty="0"/>
          </a:p>
        </p:txBody>
      </p:sp>
      <p:sp>
        <p:nvSpPr>
          <p:cNvPr id="13" name="Text 10"/>
          <p:cNvSpPr/>
          <p:nvPr/>
        </p:nvSpPr>
        <p:spPr>
          <a:xfrm>
            <a:off x="457200" y="4114800"/>
            <a:ext cx="11274552" cy="365760"/>
          </a:xfrm>
          <a:prstGeom prst="rect">
            <a:avLst/>
          </a:prstGeom>
          <a:noFill/>
          <a:ln/>
        </p:spPr>
        <p:txBody>
          <a:bodyPr wrap="square" rtlCol="0" anchor="ctr"/>
          <a:lstStyle/>
          <a:p>
            <a:pPr marL="0" indent="0" algn="ctr">
              <a:buNone/>
            </a:pP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83</TotalTime>
  <Words>1325</Words>
  <Application>Microsoft Office PowerPoint</Application>
  <PresentationFormat>Widescreen</PresentationFormat>
  <Paragraphs>183</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Karthikeya Chirravuri</cp:lastModifiedBy>
  <cp:revision>6</cp:revision>
  <dcterms:created xsi:type="dcterms:W3CDTF">2026-08-20T06:45:13Z</dcterms:created>
  <dcterms:modified xsi:type="dcterms:W3CDTF">2026-08-25T06:55:47Z</dcterms:modified>
</cp:coreProperties>
</file>